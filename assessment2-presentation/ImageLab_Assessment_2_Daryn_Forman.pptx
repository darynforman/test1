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8" r:id="rId20"/>
    <p:sldId id="269" r:id="rId21"/>
    <p:sldId id="270" r:id="rId22"/>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Daryn Forman. My project compares short polling and long polling in ImageLab. Both modes watch the same background image-processing jobs. I wanted to find out how many requests each mode sends, how quickly the browser notices completion, and which job versions it receives.</a:t>
            </a:r>
          </a:p>
          <a:p>
            <a:r>
              <a:t>The teacher has replaced the original narrated video with this classroom presentation. I am using the same assessment requirements for the implementation and experiment. The results here come from the 30 recorded runs on 25 October 2026, not made-up examples.</a:t>
            </a:r>
          </a:p>
          <a:p>
            <a:r>
              <a:t>I’ll start with how the application works, then show the code, the experiment and the trade-offs.</a:t>
            </a:r>
          </a:p>
          <a:p/>
          <a:p>
            <a:r>
              <a:t>Evidence and preparation: Teacher brief and Version 2 requirements; revised three-page report; runs.csv.</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browser uploads the image with POST /v1/images. A 202 response means the upload has been accepted and a durable job exists; it does not mean the variants are ready. The single worker claims jobs, reads the stored original, creates each variant and records progress in PostgreSQL. The API returns the job’s current state to the browser.</a:t>
            </a:r>
          </a:p>
          <a:p>
            <a:r>
              <a:t>The key distinction is that processing and observation are separate. Changing polling mode or stopping a browser request does not cancel the worker. The worker uses the application’s worker context, rather than the individual observation request’s context.</a:t>
            </a:r>
          </a:p>
          <a:p>
            <a:r>
              <a:t>The three variants keep the original transformation settings: a 150 by 150 crop, preview within 800 by 600, and display within 1200 by 900 with aspect ratio preserved for the latter two. Completed snapshots expose the complete set, not partial results as completed work. Next I’ll compare the two observation loops.</a:t>
            </a:r>
          </a:p>
          <a:p/>
          <a:p>
            <a:r>
              <a:t>Evidence and preparation: cmd/api/images.go; cmd/api/worker.go; internal/data/jobs.go; Version 2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polling asks for the current state and then waits one second after the response and rendering before asking again. It is not exactly one second from one request start to the next, because response time is added. The client does not overlap requests.</a:t>
            </a:r>
          </a:p>
          <a:p>
            <a:r>
              <a:t>Long polling begins with the same prompt snapshot, then sends after equal to its last version and wait=20. If the job is already newer, it returns immediately. If it is unchanged and active, the server holds the request until a notification, cancellation or deadline. A normal 204 means there was still no newer snapshot at the final deadline check. It is not an error. The browser immediately renews after either an active 200 or a 204.</a:t>
            </a:r>
          </a:p>
          <a:p>
            <a:r>
              <a:t>A version is not a percentage. It changes whenever observable job information changes. A snapshot can jump over versions because it represents current state, not a replay. The two cards are an explanation of the code’s behaviour, not a fabricated measurement trace. Now I’ll show how state and version are saved together.</a:t>
            </a:r>
          </a:p>
          <a:p/>
          <a:p>
            <a:r>
              <a:t>Evidence and preparation: web/assets/app.js pollJob(); cmd/api/jobs.go showJobHandler()/observationQuery(); Version 2 terms.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SQL on the left is the actual Milestone update, wrapped onto shorter lines for this slide. It increments variants_completed and version in the same transaction that stores the variant metadata. The worker calls Milestone only after the variant file has been written. That keeps real progress tied to actual work.</a:t>
            </a:r>
          </a:p>
          <a:p>
            <a:r>
              <a:t>On the right, tx.Commit must succeed before m.committed is called. I have combined two clearly separated locations from internal/data/jobs.go: the milestone’s successful commit path and the notification lines inside committed. The helper logs the committed version and then broadcasts to observers. It does not send a success message to the browser directly.</a:t>
            </a:r>
          </a:p>
          <a:p>
            <a:r>
              <a:t>A failure to commit returns an error instead of announcing a change that does not exist. The version identifies a consistent saved representation; PostgreSQL remains authoritative. Simulated steps use a separate field and never increase the real variant count. I’ll now show why observers subscribe before checking that saved record.</a:t>
            </a:r>
          </a:p>
          <a:p/>
          <a:p>
            <a:r>
              <a:t>Evidence and preparation: internal/data/jobs.go Milestone() and committed(); cmd/api/worker.go transformation/milestone ordering. Only whitespace wrapping and marked omissions in excerpts.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excerpt is the beginning of the actual long-poll branch. Subscribe registers a separate buffered signal for this observer under a mutex before get reads PostgreSQL. If a change is committed before the read, the read can discover it. If it happens after the read but before waiting, the signal stays buffered, so the observer does not miss the change in that gap.</a:t>
            </a:r>
          </a:p>
          <a:p>
            <a:r>
              <a:t>Further down this same handler, a newer version or any valid terminal snapshot returns 200 immediately. Otherwise select waits for the signal, request cancellation or the holding timer. A signal loops back to get. At the deadline the handler does one final authoritative read before deciding whether to return a newer 200 or normal 204. Subscription and timer cleanup are deferred.</a:t>
            </a:r>
          </a:p>
          <a:p>
            <a:r>
              <a:t>JobChanges.Notify broadcasts to every registered observer, rather than having all observers compete for one receive. A signal means check PostgreSQL; it never proves that processing succeeded. The browser must inspect the returned state. The endpoint also rejects future or malformed versions and invalid wait values. Those contracts are in the source; these experiment runs do not independently exercise every error branch.</a:t>
            </a:r>
          </a:p>
          <a:p/>
          <a:p>
            <a:r>
              <a:t>Evidence and preparation: cmd/api/jobs.go lines 31–65; internal/data/job_changes.go Subscribe()/Notify(); code inspection, not a new runtime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observation session starts with a prompt GET, including retry or a mode change. The first received version is the baseline. A valid active 200 updates activeJob and renders it before schedule runs. The schedule function uses zero delay for long polling and 1,000 milliseconds for short polling. The client timeout is 30 seconds.</a:t>
            </a:r>
          </a:p>
          <a:p>
            <a:r>
              <a:t>The left excerpt is the real 204 branch. It does not parse JSON or advance the version. It records normal no-change and immediately schedules the next long poll. The right excerpt stops for completed or failed. Both blocks are only whitespace wrapped from the source.</a:t>
            </a:r>
          </a:p>
          <a:p>
            <a:r>
              <a:t>stopObservation aborts the request and clears its timer. The observation session identity is checked again after fetch and after JSON parsing so a reply from an old loop cannot overwrite the current job. Genuine retrieval errors preserve the last known state and show Try again. Its click handler calls startObservation for the existing activeJob; it does not POST another image.</a:t>
            </a:r>
          </a:p>
          <a:p>
            <a:r>
              <a:t>This slide explains the implementation. The 30-run series covers successful completion and A-long-1 shows normal 204 renewal. Separate saved demonstrations on slides 12–14 now cover mode switching with worker continuation, same-job retry after a real status-connection error in short polling, and failed-job stopping in both modes. Backend cancellation cleanup and other acceptance checks are outside those captures.</a:t>
            </a:r>
          </a:p>
          <a:p/>
          <a:p>
            <a:r>
              <a:t>Evidence and preparation: web/assets/app.js stopObservation(), startObservation(), pollJob(), mode/retry event handlers; A-long-1-client.json.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saved each prediction before starting that condition. For A I expected short polling to make more requests because long polling avoids unnecessary checks. For B I chose short polling because the client stops when it finds completion. For C1 I chose long polling because it waits. For C2 I chose short polling because frequent changes can be reflected in one later response. My saved clarification is that this is still one latest snapshot, not a list of events. For C3 I expected both detection delays to rise because responses arrive later, with request counts roughly like C2. These are forecasts, not rewritten conclusions.</a:t>
            </a:r>
          </a:p>
          <a:p>
            <a:r>
              <a:t>The recorder used the actual Firefox UI and the same beach image hash and transformation settings. It checked that there were no queued or processing jobs before each upload, but did not retain separate SQL output. There was one controlled observer. Each condition alternated order short/long, long/short, short/long. Visibility samples were foreground; there was no continuous visibility log.</a:t>
            </a:r>
          </a:p>
          <a:p>
            <a:r>
              <a:t>The window starts at the first job GET and ends at terminal JSON receipt. GET counts include that first snapshot, not upload POSTs or health probes. Detection delay is browser Date.now receipt minus the matching server post-commit millisecond timestamp, joined by job ID and version on the same computer. This is an estimate, not screen-paint time.</a:t>
            </a:r>
          </a:p>
          <a:p>
            <a:r>
              <a:t>Only C3 used Firefox Network Monitor with latency=200 ms and upload/download limits of 1,000,000,000 bytes/s. Five prompt health-GET probes before and after throttling per run measured median increases of 174–285 ms, not exactly 200 ms. C1–C3 simulated steps finish before real transformations; actual commits are logged separately from truthful variant counts. All 30 runs finished with three recorded real variants.</a:t>
            </a:r>
          </a:p>
          <a:p/>
          <a:p>
            <a:r>
              <a:t>Evidence and preparation: prediction.json, B/C1/C2/C3-prediction.json; configuration and prompt-get files; record.py; runs.csv; revised report.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uses the actual 30 rows in runs.csv. Fuchsia is always short polling and teal is always long polling. The bar and number show the median of three runs, the dots are individual runs and the range line runs from the minimum to maximum. The plotted values have not been changed.</a:t>
            </a:r>
          </a:p>
          <a:p>
            <a:r>
              <a:t>Median short versus long counts are A 32 versus 6, B 2 versus 5, C1 12 versus 10, C2 12 versus 55, and C3 10 versus 44. That supports my request predictions for A, B, C1 and C2. It does not validate the explanation that stopping is unique to short polling; both modes stop at completion. In A, 86 of the 95 short-poll GETs across three runs returned unchanged state.</a:t>
            </a:r>
          </a:p>
          <a:p>
            <a:r>
              <a:t>During frequent updates, long polling tends to return on each new saved state and then immediately starts another request. Short polling lets several changes happen before its next check. C3 counts were lower than C2, contrary to my roughly unchanged count forecast. Longer response cycles can include several intervening commits.</a:t>
            </a:r>
          </a:p>
          <a:p>
            <a:r>
              <a:t>The version logs make that visible: new distinct versions after baseline had medians of 11 short and 54 long in C2, then 9 short and 43 long in C3. Missing committed versions had medians of 44 short and 1 long in C2, then 46 short and 12 long in C3. Baseline was 1 in C2; C3 short baselines were 2, 1 and 2, while C3 long baselines were 1. The report and raw summaries retain every version and gap. Next I’ll separate request count from how quickly completion was learned.</a:t>
            </a:r>
          </a:p>
          <a:p/>
          <a:p>
            <a:r>
              <a:t>Evidence and preparation: runs.csv requests_started; C2/C3 *-client.json, *-server.log, *-summary.json; original chart data, reformatted for projection.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ordinary processing in B, median completion-detection delay was 111 ms for short polling and 10 ms for long polling. Across A, B, C1, C2 and C3, short medians were 693, 111, 427, 346 and 542 ms; long medians were 13, 10, 8, 12 and 425 ms. Long polling had a lower median in every condition, but that is not the same as always winning each paired run.</a:t>
            </a:r>
          </a:p>
          <a:p>
            <a:r>
              <a:t>C3 repetition 3 is the exception I kept: short polling detected completion in 426 ms and long polling in 484 ms. With three repetitions, individual timing and scheduling can matter; I cannot use the medians as a universal promise.</a:t>
            </a:r>
          </a:p>
          <a:p>
            <a:r>
              <a:t>My C3 delay prediction was supported at the median level: relative to C2, delays rose from 346 to 542 ms for short and from 12 to 425 ms for long. My count prediction was not: counts fell from 12 to 10 and 55 to 44. The timing probes found median increases of 174–285 ms under the configured 200 ms throttling, so I do not describe it as exactly 200 ms on every request.</a:t>
            </a:r>
          </a:p>
          <a:p>
            <a:r>
              <a:t>These values use same-computer wall clocks. Date.now was taken after terminal JSON was read; the server timestamp was immediately after the terminal commit. Logging, JSON parsing and scheduling introduce uncertainty. These are not transformation speeds. That distinction is important for the next slide.</a:t>
            </a:r>
          </a:p>
          <a:p/>
          <a:p>
            <a:r>
              <a:t>Evidence and preparation: runs.csv detection_ms; post-commit server logs matched to terminal client receipt; C3 prompt-get files; revised report.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quicker detection does not show faster image processing. B’s processing-duration medians were 217.594 ms for the short runs and 451.356 ms for the long runs, and neither small group establishes a causal processing benefit. Artificial waits dominate the delayed conditions.</a:t>
            </a:r>
          </a:p>
          <a:p>
            <a:r>
              <a:t>Second, fewer HTTP requests can hide database work. In C1 the long mode used fewer GETs but more observation reads, 20 median versus 13. This implementation waits on notifications, not periodic SQL polling. It reads on entry, wake-up and the final deadline check, with extra completed-result metadata reads. Worker queries are not part of these counters. A new HTTP request also does not necessarily mean a new TCP connection.</a:t>
            </a:r>
          </a:p>
          <a:p>
            <a:r>
              <a:t>Third, the version comparison is based on each run’s first observed baseline. The numbers shown are medians of new versions and counts of missing committed versions, not sizes of version jumps. C2 long observed a median 54 new versions, range 54–55, missing 1, range 0–1. C3 long observed 43, range 41–44, missing 12, range 11–14. All reached terminal version 56 with the final results. A-long-1 also skipped version 5 and still received completed version 6.</a:t>
            </a:r>
          </a:p>
          <a:p>
            <a:r>
              <a:t>If every event had to be kept, the latest snapshot and a notification signal would not be enough. We would need durable event history and a way to request missing events again. A different design could keep one response open and send separately framed updates so the browser reads each part as it arrives. It would still need disconnect and recovery rules. I have not implemented that continuing-response design.</a:t>
            </a:r>
          </a:p>
          <a:p/>
          <a:p>
            <a:r>
              <a:t>Evidence and preparation: C1 SQL counters; C2/C3 client/server version logs and summaries; A-long-1 trace; Version 2 snapshot definition. Continuing response is a proposal only.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only three repetitions per mode and condition. This is a classroom comparison with one image, one observer and one computer, not a general performance study. I did not measure CPU, memory, total network bytes or many concurrent observers.</a:t>
            </a:r>
          </a:p>
          <a:p>
            <a:r>
              <a:t>The browser and server use the same computer clock, but millisecond resolution, logging after commit and scheduling still add uncertainty. C3 timing was approximate, and only C3 opened Firefox Network Monitor, which may itself add overhead. The foreground check was sampled rather than continuous. The recorder enforced an empty queue before upload, but did not save the separate SQL check output. Successful measured runs are not proof that every failure and lifecycle acceptance branch works.</a:t>
            </a:r>
          </a:p>
          <a:p>
            <a:r>
              <a:t>My recommendation follows what I measured. Long polling is useful when quick feedback matters and the job changes only occasionally, particularly A and C1. Short polling remains reasonable when about one-second checking is acceptable and many frequent updates would otherwise generate requests. B also showed that a very short job may complete between short polls. I would not claim one mode is always more efficient.</a:t>
            </a:r>
          </a:p>
          <a:p>
            <a:r>
              <a:t>The separate report, 30-row CSV and supporting logs preserve the detailed numbers so this presentation can be checked.</a:t>
            </a:r>
          </a:p>
          <a:p/>
          <a:p>
            <a:r>
              <a:t>Evidence and preparation: Revised report limitations and recommendation; raw runs/configuration/probe evidence; no new benchmarks performed.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conclusion is that long polling was useful, but it did not make image transformations faster. It reduced repeated checking during quiet work and had a lower median completion-detection delay in these conditions. Frequent updates could create more requests, and added latency meant more intermediate versions were skipped. The final complete snapshot was still received.</a:t>
            </a:r>
          </a:p>
          <a:p>
            <a:r>
              <a:t>The 30-row CSV and client/server logs support the experiment results. The separate demonstrations now add observed evidence of switching modes while the same job completes, Try again after a real status-connection error without another upload, and failed-job browser stopping in both modes. No source code or experiment measurements were changed to produce those captures.</a:t>
            </a:r>
          </a:p>
          <a:p>
            <a:r>
              <a:t>I should distinguish that evidence from checks not established by these demonstrations. The retry capture used short polling. The local forwarder means the mode-switch recording does not establish backend cancellation-resource cleanup. Other original acceptance checks, such as two simultaneous observers and rejection of invalid observation parameters, still need their own saved or live evidence. A-long-1 is saved evidence of a held request, normal 204 renewal and terminal stop.</a:t>
            </a:r>
          </a:p>
          <a:p>
            <a:r>
              <a:t>These slides follow the teacher’s updated classroom-PPT instruction rather than the original video format. Source, migration, meaningful commits, setup/experiment documentation and the Assessment 1 baseline reference remain separate submission items; this presentation does not certify all are complete. No presentation time limit has been assumed.</a:t>
            </a:r>
          </a:p>
          <a:p>
            <a:r>
              <a:t>Questions about the implementation, measurements or demonstrations?</a:t>
            </a:r>
          </a:p>
          <a:p/>
          <a:p>
            <a:r>
              <a:t>Evidence: revised report, runs.csv, original experiment logs, and assessment2-feature-evidence/ready-to-show verified demonstrations.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now saved runtime evidence, separate from my 30 experiment runs. The animation begins after the upload, with long polling selected. Only the idle pre-upload frames were trimmed from the saved screenshot sequence. While the worker is still processing, the automation changes to short polling and then back to long polling through the page’s real mode control.</a:t>
            </a:r>
          </a:p>
          <a:p>
            <a:r>
              <a:t>The job ID remains 0f987258-0dfd-4df2-8f3f-6886d5d71bdc. The client log records the old long poll as cancelled. The network log contains exactly one upload POST for this demonstration. The same job then reaches completed version 6 with all three variants. The observation log has 12 requests at completion and still 12 after a 6,520 ms stop check.</a:t>
            </a:r>
          </a:p>
          <a:p>
            <a:r>
              <a:t>I can explain the animation without claiming that cancelling observation cancels work. It cancels the browser loop; the worker continues. The temporary local forwarder can retain its upstream request until the server responds, so this demonstration does not prove backend cancellation-resource cleanup. It proves the browser switch, same-job continuation and completion.</a:t>
            </a:r>
          </a:p>
          <a:p>
            <a:r>
              <a:t>These are time-sampled native Firefox screenshots, not full-frame-rate video. The GIF keeps their capture timing and is embedded in the deck. In PowerPoint I use Slide Show to play it; the still frames and logs remain available separately.</a:t>
            </a:r>
          </a:p>
          <a:p/>
          <a:p>
            <a:r>
              <a:t>Evidence and preparation: ready-to-show/01-mode-switch: actions.json, client-log.json, network-log.json, server-job.log, terminal/polling-still-stopped states and verification.json.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deliberately caused a genuine transport failure for a status GET. A temporary local forwarding helper closed the connection instead of returning a response. It did not invent job JSON, replace fetch, stop the worker or change application source.</a:t>
            </a:r>
          </a:p>
          <a:p>
            <a:r>
              <a:t>The real browser showed Unable to check status and Try again. It retained the same processing snapshot at version 2 and paused checking. The automation removed the fault and clicked the actual Try again button. The error cleared, observation resumed, and job e8c3ad18-7333-40f2-b9a6-2712b29ba263 completed normally.</a:t>
            </a:r>
          </a:p>
          <a:p>
            <a:r>
              <a:t>The network log proves there was only one POST /v1/images across this demonstration. Requests after Try again target the same job URL. The browser had 15 observation requests at completion and still 15 after a 6,487 ms stop check. Those request counts are evidence for this lifecycle check, not extra rows in the experiment CSV.</a:t>
            </a:r>
          </a:p>
          <a:p>
            <a:r>
              <a:t>This retry demonstration used short polling. I should not describe it as a separate runtime retry check of both modes. The full-page error screenshot and native job-panel capture show the button clearly. The animation is time sampled, with only idle pre-upload frames trimmed, and plays in Slide Show. Next I show a worker failure, which is different from an observation connection error.</a:t>
            </a:r>
          </a:p>
          <a:p/>
          <a:p>
            <a:r>
              <a:t>Evidence and preparation: ready-to-show/02-error-and-retry: error and retry screenshots/states, actions.json, client-log.json, network-log.json, server-job.log and verification.json.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connection error does not mean that image processing failed. This is a separate check where the worker itself genuinely fails.</a:t>
            </a:r>
          </a:p>
          <a:p>
            <a:r>
              <a:t>Each demonstration began with a real valid upload and an eight-second configured worker delay. The automation temporarily renamed only that new uploaded demonstration copy in temporary storage. When the worker tried to open it, the file was missing. The unmodified worker recorded failed, a failure timestamp and the safe error message. The copy was restored afterwards; my original beach image and existing uploads were not removed.</a:t>
            </a:r>
          </a:p>
          <a:p>
            <a:r>
              <a:t>The long-polling job is c1b2662d-d29f-4766-80c4-d86f338149f3. It reached failed version 3, displayed the safe error and Status checking stopped. Its request count stayed at 3 across a 6,345 ms stop check. The short-polling job is d05466ed-138e-497f-bc70-16410e3f4d01. Its count stayed at 10 across a 6,439 ms stop check. Both had one upload POST, zero completed variants, no completed_at timestamp and no pending browser request at the end.</a:t>
            </a:r>
          </a:p>
          <a:p>
            <a:r>
              <a:t>Those observations now support failed-job browser stopping in both modes. They do not establish every acceptance check or every possible failure. The animations are actual time-sampled job-panel screenshots, with only idle pre-upload frames trimmed; their configuration and raw logs are saved. These fault demonstrations are outside the 30 measured runs.</a:t>
            </a:r>
          </a:p>
          <a:p/>
          <a:p>
            <a:r>
              <a:t>Evidence and preparation: ready-to-show/03-failure-long and 04-failure-short: terminal-failed/polling-still-stopped screenshots and states, client/network/server logs, configuration and verification.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gif"/><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gif"/><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gif"/><Relationship Id="rId3" Type="http://schemas.openxmlformats.org/officeDocument/2006/relationships/image" Target="../media/image6.gif"/><Relationship Id="rId4"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ImageLab Assessment 2"/>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ImageLab Assessment 2</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Introduction</a:t>
            </a:r>
          </a:p>
        </p:txBody>
      </p:sp>
      <p:sp>
        <p:nvSpPr>
          <p:cNvPr id="5" name="Text 01"/>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01</a:t>
            </a:r>
          </a:p>
        </p:txBody>
      </p:sp>
      <p:sp>
        <p:nvSpPr>
          <p:cNvPr id="6" name="Text Short and Long&#10;Polling Compariso"/>
          <p:cNvSpPr txBox="1"/>
          <p:nvPr/>
        </p:nvSpPr>
        <p:spPr>
          <a:xfrm>
            <a:off x="749808" y="1517904"/>
            <a:ext cx="10698480" cy="1298448"/>
          </a:xfrm>
          <a:prstGeom prst="rect">
            <a:avLst/>
          </a:prstGeom>
          <a:noFill/>
        </p:spPr>
        <p:txBody>
          <a:bodyPr wrap="square" lIns="9144" rIns="9144" tIns="0" bIns="0" anchor="t">
            <a:spAutoFit/>
          </a:bodyPr>
          <a:lstStyle/>
          <a:p>
            <a:pPr>
              <a:lnSpc>
                <a:spcPct val="108000"/>
              </a:lnSpc>
              <a:spcBef>
                <a:spcPts val="0"/>
              </a:spcBef>
              <a:spcAft>
                <a:spcPts val="0"/>
              </a:spcAft>
            </a:pPr>
            <a:r>
              <a:rPr sz="4600" b="1">
                <a:solidFill>
                  <a:srgbClr val="17363D"/>
                </a:solidFill>
                <a:latin typeface="Liberation Sans"/>
              </a:rPr>
              <a:t>Short and Long</a:t>
            </a:r>
          </a:p>
          <a:p>
            <a:pPr>
              <a:lnSpc>
                <a:spcPct val="108000"/>
              </a:lnSpc>
              <a:spcBef>
                <a:spcPts val="0"/>
              </a:spcBef>
              <a:spcAft>
                <a:spcPts val="0"/>
              </a:spcAft>
            </a:pPr>
            <a:r>
              <a:rPr sz="4600" b="1">
                <a:solidFill>
                  <a:srgbClr val="17363D"/>
                </a:solidFill>
                <a:latin typeface="Liberation Sans"/>
              </a:rPr>
              <a:t>Polling Comparison</a:t>
            </a:r>
          </a:p>
        </p:txBody>
      </p:sp>
      <p:sp>
        <p:nvSpPr>
          <p:cNvPr id="7" name="Text Daryn Forman"/>
          <p:cNvSpPr txBox="1"/>
          <p:nvPr/>
        </p:nvSpPr>
        <p:spPr>
          <a:xfrm>
            <a:off x="786384" y="3136392"/>
            <a:ext cx="7315200" cy="502920"/>
          </a:xfrm>
          <a:prstGeom prst="rect">
            <a:avLst/>
          </a:prstGeom>
          <a:noFill/>
        </p:spPr>
        <p:txBody>
          <a:bodyPr wrap="square" lIns="9144" rIns="9144" tIns="0" bIns="0" anchor="t">
            <a:spAutoFit/>
          </a:bodyPr>
          <a:lstStyle/>
          <a:p>
            <a:pPr>
              <a:lnSpc>
                <a:spcPct val="108000"/>
              </a:lnSpc>
              <a:spcBef>
                <a:spcPts val="0"/>
              </a:spcBef>
              <a:spcAft>
                <a:spcPts val="0"/>
              </a:spcAft>
            </a:pPr>
            <a:r>
              <a:rPr sz="2700" b="0">
                <a:solidFill>
                  <a:srgbClr val="304B53"/>
                </a:solidFill>
                <a:latin typeface="Liberation Sans"/>
              </a:rPr>
              <a:t>Daryn Forman</a:t>
            </a:r>
          </a:p>
        </p:txBody>
      </p:sp>
      <p:sp>
        <p:nvSpPr>
          <p:cNvPr id="8" name="Rectangle 7"/>
          <p:cNvSpPr/>
          <p:nvPr/>
        </p:nvSpPr>
        <p:spPr>
          <a:xfrm>
            <a:off x="768096" y="4087368"/>
            <a:ext cx="5230368" cy="82296"/>
          </a:xfrm>
          <a:prstGeom prst="rect">
            <a:avLst/>
          </a:prstGeom>
          <a:solidFill>
            <a:srgbClr val="CF16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0488" y="4087368"/>
            <a:ext cx="5230368" cy="8229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Short polling"/>
          <p:cNvSpPr txBox="1"/>
          <p:nvPr/>
        </p:nvSpPr>
        <p:spPr>
          <a:xfrm>
            <a:off x="786384" y="4462272"/>
            <a:ext cx="5230368" cy="502920"/>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CF167E"/>
                </a:solidFill>
                <a:latin typeface="Liberation Sans"/>
              </a:rPr>
              <a:t>Short polling</a:t>
            </a:r>
          </a:p>
        </p:txBody>
      </p:sp>
      <p:sp>
        <p:nvSpPr>
          <p:cNvPr id="11" name="Text Long polling"/>
          <p:cNvSpPr txBox="1"/>
          <p:nvPr/>
        </p:nvSpPr>
        <p:spPr>
          <a:xfrm>
            <a:off x="6208776" y="4462272"/>
            <a:ext cx="5230368" cy="502920"/>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008C91"/>
                </a:solidFill>
                <a:latin typeface="Liberation Sans"/>
              </a:rPr>
              <a:t>Long polling</a:t>
            </a:r>
          </a:p>
        </p:txBody>
      </p:sp>
      <p:sp>
        <p:nvSpPr>
          <p:cNvPr id="12" name="Text Same image-processing applicatio"/>
          <p:cNvSpPr txBox="1"/>
          <p:nvPr/>
        </p:nvSpPr>
        <p:spPr>
          <a:xfrm>
            <a:off x="786384" y="5102352"/>
            <a:ext cx="10607040" cy="658368"/>
          </a:xfrm>
          <a:prstGeom prst="rect">
            <a:avLst/>
          </a:prstGeom>
          <a:noFill/>
        </p:spPr>
        <p:txBody>
          <a:bodyPr wrap="square" lIns="9144" rIns="9144" tIns="0" bIns="0" anchor="t">
            <a:spAutoFit/>
          </a:bodyPr>
          <a:lstStyle/>
          <a:p>
            <a:pPr>
              <a:lnSpc>
                <a:spcPct val="108000"/>
              </a:lnSpc>
              <a:spcBef>
                <a:spcPts val="0"/>
              </a:spcBef>
              <a:spcAft>
                <a:spcPts val="0"/>
              </a:spcAft>
            </a:pPr>
            <a:r>
              <a:rPr sz="2600" b="0">
                <a:solidFill>
                  <a:srgbClr val="304B53"/>
                </a:solidFill>
                <a:latin typeface="Liberation Sans"/>
              </a:rPr>
              <a:t>Same image-processing application.</a:t>
            </a:r>
          </a:p>
          <a:p>
            <a:pPr>
              <a:lnSpc>
                <a:spcPct val="108000"/>
              </a:lnSpc>
              <a:spcBef>
                <a:spcPts val="0"/>
              </a:spcBef>
              <a:spcAft>
                <a:spcPts val="0"/>
              </a:spcAft>
            </a:pPr>
            <a:r>
              <a:rPr sz="2600" b="0">
                <a:solidFill>
                  <a:srgbClr val="304B53"/>
                </a:solidFill>
                <a:latin typeface="Liberation Sans"/>
              </a:rPr>
              <a:t>Two ways for the browser to observe progress.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The worker processes. The browse"/>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The worker processes. The browser observes.</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Application overview</a:t>
            </a:r>
          </a:p>
        </p:txBody>
      </p:sp>
      <p:sp>
        <p:nvSpPr>
          <p:cNvPr id="5" name="Text 02"/>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02</a:t>
            </a:r>
          </a:p>
        </p:txBody>
      </p:sp>
      <p:sp>
        <p:nvSpPr>
          <p:cNvPr id="6" name="Text Assessment 2 adds version-based "/>
          <p:cNvSpPr txBox="1"/>
          <p:nvPr/>
        </p:nvSpPr>
        <p:spPr>
          <a:xfrm>
            <a:off x="548640" y="1069848"/>
            <a:ext cx="11064240" cy="621792"/>
          </a:xfrm>
          <a:prstGeom prst="rect">
            <a:avLst/>
          </a:prstGeom>
          <a:noFill/>
        </p:spPr>
        <p:txBody>
          <a:bodyPr wrap="square" lIns="9144" rIns="9144" tIns="0" bIns="0" anchor="t">
            <a:spAutoFit/>
          </a:bodyPr>
          <a:lstStyle/>
          <a:p>
            <a:pPr>
              <a:lnSpc>
                <a:spcPct val="108000"/>
              </a:lnSpc>
              <a:spcBef>
                <a:spcPts val="0"/>
              </a:spcBef>
              <a:spcAft>
                <a:spcPts val="0"/>
              </a:spcAft>
            </a:pPr>
            <a:r>
              <a:rPr sz="2500" b="0">
                <a:solidFill>
                  <a:srgbClr val="304B53"/>
                </a:solidFill>
                <a:latin typeface="Liberation Sans"/>
              </a:rPr>
              <a:t>Assessment 2 adds version-based long polling beside the existing short-polling mode.</a:t>
            </a:r>
          </a:p>
        </p:txBody>
      </p:sp>
      <p:sp>
        <p:nvSpPr>
          <p:cNvPr id="7" name="Rounded Rectangle 6"/>
          <p:cNvSpPr/>
          <p:nvPr/>
        </p:nvSpPr>
        <p:spPr>
          <a:xfrm>
            <a:off x="594360" y="2084831"/>
            <a:ext cx="2423160" cy="1234440"/>
          </a:xfrm>
          <a:prstGeom prst="roundRect">
            <a:avLst>
              <a:gd name="adj" fmla="val 12000"/>
            </a:avLst>
          </a:prstGeom>
          <a:solidFill>
            <a:srgbClr val="F3F7F7"/>
          </a:solidFill>
          <a:ln w="10160">
            <a:solidFill>
              <a:srgbClr val="DD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Browser"/>
          <p:cNvSpPr txBox="1"/>
          <p:nvPr/>
        </p:nvSpPr>
        <p:spPr>
          <a:xfrm>
            <a:off x="704088" y="2249424"/>
            <a:ext cx="2203704" cy="384048"/>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008C91"/>
                </a:solidFill>
                <a:latin typeface="Liberation Sans"/>
              </a:rPr>
              <a:t>Browser</a:t>
            </a:r>
          </a:p>
        </p:txBody>
      </p:sp>
      <p:sp>
        <p:nvSpPr>
          <p:cNvPr id="9" name="Text Upload + observe"/>
          <p:cNvSpPr txBox="1"/>
          <p:nvPr/>
        </p:nvSpPr>
        <p:spPr>
          <a:xfrm>
            <a:off x="704088" y="2788920"/>
            <a:ext cx="2203704" cy="365760"/>
          </a:xfrm>
          <a:prstGeom prst="rect">
            <a:avLst/>
          </a:prstGeom>
          <a:noFill/>
        </p:spPr>
        <p:txBody>
          <a:bodyPr wrap="square" lIns="9144" rIns="9144" tIns="0" bIns="0" anchor="t">
            <a:spAutoFit/>
          </a:bodyPr>
          <a:lstStyle/>
          <a:p>
            <a:pPr>
              <a:lnSpc>
                <a:spcPct val="108000"/>
              </a:lnSpc>
              <a:spcBef>
                <a:spcPts val="0"/>
              </a:spcBef>
              <a:spcAft>
                <a:spcPts val="0"/>
              </a:spcAft>
            </a:pPr>
            <a:r>
              <a:rPr sz="2100" b="0">
                <a:solidFill>
                  <a:srgbClr val="304B53"/>
                </a:solidFill>
                <a:latin typeface="Liberation Sans"/>
              </a:rPr>
              <a:t>Upload + observe</a:t>
            </a:r>
          </a:p>
        </p:txBody>
      </p:sp>
      <p:sp>
        <p:nvSpPr>
          <p:cNvPr id="10" name="Rounded Rectangle 9"/>
          <p:cNvSpPr/>
          <p:nvPr/>
        </p:nvSpPr>
        <p:spPr>
          <a:xfrm>
            <a:off x="4069080" y="2084831"/>
            <a:ext cx="2743200" cy="1234440"/>
          </a:xfrm>
          <a:prstGeom prst="roundRect">
            <a:avLst>
              <a:gd name="adj" fmla="val 12000"/>
            </a:avLst>
          </a:prstGeom>
          <a:solidFill>
            <a:srgbClr val="F3F7F7"/>
          </a:solidFill>
          <a:ln w="10160">
            <a:solidFill>
              <a:srgbClr val="DD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Go API"/>
          <p:cNvSpPr txBox="1"/>
          <p:nvPr/>
        </p:nvSpPr>
        <p:spPr>
          <a:xfrm>
            <a:off x="4178808" y="2249424"/>
            <a:ext cx="2523744" cy="384048"/>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008C91"/>
                </a:solidFill>
                <a:latin typeface="Liberation Sans"/>
              </a:rPr>
              <a:t>Go API</a:t>
            </a:r>
          </a:p>
        </p:txBody>
      </p:sp>
      <p:sp>
        <p:nvSpPr>
          <p:cNvPr id="12" name="Text Accept + return state"/>
          <p:cNvSpPr txBox="1"/>
          <p:nvPr/>
        </p:nvSpPr>
        <p:spPr>
          <a:xfrm>
            <a:off x="4178808" y="2788920"/>
            <a:ext cx="2523744" cy="365760"/>
          </a:xfrm>
          <a:prstGeom prst="rect">
            <a:avLst/>
          </a:prstGeom>
          <a:noFill/>
        </p:spPr>
        <p:txBody>
          <a:bodyPr wrap="square" lIns="9144" rIns="9144" tIns="0" bIns="0" anchor="t">
            <a:spAutoFit/>
          </a:bodyPr>
          <a:lstStyle/>
          <a:p>
            <a:pPr>
              <a:lnSpc>
                <a:spcPct val="108000"/>
              </a:lnSpc>
              <a:spcBef>
                <a:spcPts val="0"/>
              </a:spcBef>
              <a:spcAft>
                <a:spcPts val="0"/>
              </a:spcAft>
            </a:pPr>
            <a:r>
              <a:rPr sz="2100" b="0">
                <a:solidFill>
                  <a:srgbClr val="304B53"/>
                </a:solidFill>
                <a:latin typeface="Liberation Sans"/>
              </a:rPr>
              <a:t>Accept + return state</a:t>
            </a:r>
          </a:p>
        </p:txBody>
      </p:sp>
      <p:sp>
        <p:nvSpPr>
          <p:cNvPr id="13" name="Rounded Rectangle 12"/>
          <p:cNvSpPr/>
          <p:nvPr/>
        </p:nvSpPr>
        <p:spPr>
          <a:xfrm>
            <a:off x="8229600" y="2084831"/>
            <a:ext cx="3337560" cy="1234440"/>
          </a:xfrm>
          <a:prstGeom prst="roundRect">
            <a:avLst>
              <a:gd name="adj" fmla="val 12000"/>
            </a:avLst>
          </a:prstGeom>
          <a:solidFill>
            <a:srgbClr val="F3F7F7"/>
          </a:solidFill>
          <a:ln w="10160">
            <a:solidFill>
              <a:srgbClr val="DD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PostgreSQL"/>
          <p:cNvSpPr txBox="1"/>
          <p:nvPr/>
        </p:nvSpPr>
        <p:spPr>
          <a:xfrm>
            <a:off x="8339327" y="2249424"/>
            <a:ext cx="3118104" cy="384048"/>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008C91"/>
                </a:solidFill>
                <a:latin typeface="Liberation Sans"/>
              </a:rPr>
              <a:t>PostgreSQL</a:t>
            </a:r>
          </a:p>
        </p:txBody>
      </p:sp>
      <p:sp>
        <p:nvSpPr>
          <p:cNvPr id="15" name="Text Authoritative job record"/>
          <p:cNvSpPr txBox="1"/>
          <p:nvPr/>
        </p:nvSpPr>
        <p:spPr>
          <a:xfrm>
            <a:off x="8339327" y="2788920"/>
            <a:ext cx="3118104" cy="365760"/>
          </a:xfrm>
          <a:prstGeom prst="rect">
            <a:avLst/>
          </a:prstGeom>
          <a:noFill/>
        </p:spPr>
        <p:txBody>
          <a:bodyPr wrap="square" lIns="9144" rIns="9144" tIns="0" bIns="0" anchor="t">
            <a:spAutoFit/>
          </a:bodyPr>
          <a:lstStyle/>
          <a:p>
            <a:pPr>
              <a:lnSpc>
                <a:spcPct val="108000"/>
              </a:lnSpc>
              <a:spcBef>
                <a:spcPts val="0"/>
              </a:spcBef>
              <a:spcAft>
                <a:spcPts val="0"/>
              </a:spcAft>
            </a:pPr>
            <a:r>
              <a:rPr sz="2100" b="0">
                <a:solidFill>
                  <a:srgbClr val="304B53"/>
                </a:solidFill>
                <a:latin typeface="Liberation Sans"/>
              </a:rPr>
              <a:t>Authoritative job record</a:t>
            </a:r>
          </a:p>
        </p:txBody>
      </p:sp>
      <p:sp>
        <p:nvSpPr>
          <p:cNvPr id="16" name="Rounded Rectangle 15"/>
          <p:cNvSpPr/>
          <p:nvPr/>
        </p:nvSpPr>
        <p:spPr>
          <a:xfrm>
            <a:off x="8229600" y="4187952"/>
            <a:ext cx="3337560" cy="1234440"/>
          </a:xfrm>
          <a:prstGeom prst="roundRect">
            <a:avLst>
              <a:gd name="adj" fmla="val 12000"/>
            </a:avLst>
          </a:prstGeom>
          <a:solidFill>
            <a:srgbClr val="F3F7F7"/>
          </a:solidFill>
          <a:ln w="10160">
            <a:solidFill>
              <a:srgbClr val="DD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One worker"/>
          <p:cNvSpPr txBox="1"/>
          <p:nvPr/>
        </p:nvSpPr>
        <p:spPr>
          <a:xfrm>
            <a:off x="8339327" y="4352544"/>
            <a:ext cx="3118104" cy="384048"/>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008C91"/>
                </a:solidFill>
                <a:latin typeface="Liberation Sans"/>
              </a:rPr>
              <a:t>One worker</a:t>
            </a:r>
          </a:p>
        </p:txBody>
      </p:sp>
      <p:sp>
        <p:nvSpPr>
          <p:cNvPr id="18" name="Text Create the variants"/>
          <p:cNvSpPr txBox="1"/>
          <p:nvPr/>
        </p:nvSpPr>
        <p:spPr>
          <a:xfrm>
            <a:off x="8339327" y="4892040"/>
            <a:ext cx="3118104" cy="365760"/>
          </a:xfrm>
          <a:prstGeom prst="rect">
            <a:avLst/>
          </a:prstGeom>
          <a:noFill/>
        </p:spPr>
        <p:txBody>
          <a:bodyPr wrap="square" lIns="9144" rIns="9144" tIns="0" bIns="0" anchor="t">
            <a:spAutoFit/>
          </a:bodyPr>
          <a:lstStyle/>
          <a:p>
            <a:pPr>
              <a:lnSpc>
                <a:spcPct val="108000"/>
              </a:lnSpc>
              <a:spcBef>
                <a:spcPts val="0"/>
              </a:spcBef>
              <a:spcAft>
                <a:spcPts val="0"/>
              </a:spcAft>
            </a:pPr>
            <a:r>
              <a:rPr sz="2100" b="0">
                <a:solidFill>
                  <a:srgbClr val="304B53"/>
                </a:solidFill>
                <a:latin typeface="Liberation Sans"/>
              </a:rPr>
              <a:t>Create the variants</a:t>
            </a:r>
          </a:p>
        </p:txBody>
      </p:sp>
      <p:sp>
        <p:nvSpPr>
          <p:cNvPr id="19" name="Rounded Rectangle 18"/>
          <p:cNvSpPr/>
          <p:nvPr/>
        </p:nvSpPr>
        <p:spPr>
          <a:xfrm>
            <a:off x="4069080" y="4187952"/>
            <a:ext cx="2743200" cy="1234440"/>
          </a:xfrm>
          <a:prstGeom prst="roundRect">
            <a:avLst>
              <a:gd name="adj" fmla="val 12000"/>
            </a:avLst>
          </a:prstGeom>
          <a:solidFill>
            <a:srgbClr val="F3F7F7"/>
          </a:solidFill>
          <a:ln w="10160">
            <a:solidFill>
              <a:srgbClr val="DD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Local files"/>
          <p:cNvSpPr txBox="1"/>
          <p:nvPr/>
        </p:nvSpPr>
        <p:spPr>
          <a:xfrm>
            <a:off x="4178808" y="4352544"/>
            <a:ext cx="2523744" cy="384048"/>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008C91"/>
                </a:solidFill>
                <a:latin typeface="Liberation Sans"/>
              </a:rPr>
              <a:t>Local files</a:t>
            </a:r>
          </a:p>
        </p:txBody>
      </p:sp>
      <p:sp>
        <p:nvSpPr>
          <p:cNvPr id="21" name="Text Original + outputs"/>
          <p:cNvSpPr txBox="1"/>
          <p:nvPr/>
        </p:nvSpPr>
        <p:spPr>
          <a:xfrm>
            <a:off x="4178808" y="4892040"/>
            <a:ext cx="2523744" cy="365760"/>
          </a:xfrm>
          <a:prstGeom prst="rect">
            <a:avLst/>
          </a:prstGeom>
          <a:noFill/>
        </p:spPr>
        <p:txBody>
          <a:bodyPr wrap="square" lIns="9144" rIns="9144" tIns="0" bIns="0" anchor="t">
            <a:spAutoFit/>
          </a:bodyPr>
          <a:lstStyle/>
          <a:p>
            <a:pPr>
              <a:lnSpc>
                <a:spcPct val="108000"/>
              </a:lnSpc>
              <a:spcBef>
                <a:spcPts val="0"/>
              </a:spcBef>
              <a:spcAft>
                <a:spcPts val="0"/>
              </a:spcAft>
            </a:pPr>
            <a:r>
              <a:rPr sz="2100" b="0">
                <a:solidFill>
                  <a:srgbClr val="304B53"/>
                </a:solidFill>
                <a:latin typeface="Liberation Sans"/>
              </a:rPr>
              <a:t>Original + outputs</a:t>
            </a:r>
          </a:p>
        </p:txBody>
      </p:sp>
      <p:cxnSp>
        <p:nvCxnSpPr>
          <p:cNvPr id="22" name="Connector 21"/>
          <p:cNvCxnSpPr/>
          <p:nvPr/>
        </p:nvCxnSpPr>
        <p:spPr>
          <a:xfrm>
            <a:off x="3044952" y="2715768"/>
            <a:ext cx="941832" cy="0"/>
          </a:xfrm>
          <a:prstGeom prst="line">
            <a:avLst/>
          </a:prstGeom>
          <a:ln w="25400">
            <a:solidFill>
              <a:srgbClr val="008C91"/>
            </a:solidFill>
            <a:tailEnd type="triangle"/>
          </a:ln>
        </p:spPr>
        <p:style>
          <a:lnRef idx="2">
            <a:schemeClr val="accent1"/>
          </a:lnRef>
          <a:fillRef idx="0">
            <a:schemeClr val="accent1"/>
          </a:fillRef>
          <a:effectRef idx="1">
            <a:schemeClr val="accent1"/>
          </a:effectRef>
          <a:fontRef idx="minor">
            <a:schemeClr val="tx1"/>
          </a:fontRef>
        </p:style>
      </p:cxnSp>
      <p:sp>
        <p:nvSpPr>
          <p:cNvPr id="23" name="Text POST&#10;GET"/>
          <p:cNvSpPr txBox="1"/>
          <p:nvPr/>
        </p:nvSpPr>
        <p:spPr>
          <a:xfrm>
            <a:off x="3063240" y="2048256"/>
            <a:ext cx="950976" cy="521207"/>
          </a:xfrm>
          <a:prstGeom prst="rect">
            <a:avLst/>
          </a:prstGeom>
          <a:noFill/>
        </p:spPr>
        <p:txBody>
          <a:bodyPr wrap="square" lIns="9144" rIns="9144" tIns="0" bIns="0" anchor="t">
            <a:spAutoFit/>
          </a:bodyPr>
          <a:lstStyle/>
          <a:p>
            <a:pPr algn="ctr">
              <a:lnSpc>
                <a:spcPct val="108000"/>
              </a:lnSpc>
              <a:spcBef>
                <a:spcPts val="0"/>
              </a:spcBef>
              <a:spcAft>
                <a:spcPts val="0"/>
              </a:spcAft>
            </a:pPr>
            <a:r>
              <a:rPr sz="1600" b="1">
                <a:solidFill>
                  <a:srgbClr val="62757A"/>
                </a:solidFill>
                <a:latin typeface="Liberation Sans"/>
              </a:rPr>
              <a:t>POST</a:t>
            </a:r>
          </a:p>
          <a:p>
            <a:pPr algn="ctr">
              <a:lnSpc>
                <a:spcPct val="108000"/>
              </a:lnSpc>
              <a:spcBef>
                <a:spcPts val="0"/>
              </a:spcBef>
              <a:spcAft>
                <a:spcPts val="0"/>
              </a:spcAft>
            </a:pPr>
            <a:r>
              <a:rPr sz="1600" b="1">
                <a:solidFill>
                  <a:srgbClr val="62757A"/>
                </a:solidFill>
                <a:latin typeface="Liberation Sans"/>
              </a:rPr>
              <a:t>GET</a:t>
            </a:r>
          </a:p>
        </p:txBody>
      </p:sp>
      <p:cxnSp>
        <p:nvCxnSpPr>
          <p:cNvPr id="24" name="Connector 23"/>
          <p:cNvCxnSpPr/>
          <p:nvPr/>
        </p:nvCxnSpPr>
        <p:spPr>
          <a:xfrm>
            <a:off x="6876288" y="2715768"/>
            <a:ext cx="1261872" cy="0"/>
          </a:xfrm>
          <a:prstGeom prst="line">
            <a:avLst/>
          </a:prstGeom>
          <a:ln w="25400">
            <a:solidFill>
              <a:srgbClr val="008C91"/>
            </a:solidFill>
            <a:tailEnd type="triangle"/>
          </a:ln>
        </p:spPr>
        <p:style>
          <a:lnRef idx="2">
            <a:schemeClr val="accent1"/>
          </a:lnRef>
          <a:fillRef idx="0">
            <a:schemeClr val="accent1"/>
          </a:fillRef>
          <a:effectRef idx="1">
            <a:schemeClr val="accent1"/>
          </a:effectRef>
          <a:fontRef idx="minor">
            <a:schemeClr val="tx1"/>
          </a:fontRef>
        </p:style>
      </p:cxnSp>
      <p:sp>
        <p:nvSpPr>
          <p:cNvPr id="25" name="Text read / write"/>
          <p:cNvSpPr txBox="1"/>
          <p:nvPr/>
        </p:nvSpPr>
        <p:spPr>
          <a:xfrm>
            <a:off x="6858000" y="2276856"/>
            <a:ext cx="1280160" cy="301752"/>
          </a:xfrm>
          <a:prstGeom prst="rect">
            <a:avLst/>
          </a:prstGeom>
          <a:noFill/>
        </p:spPr>
        <p:txBody>
          <a:bodyPr wrap="square" lIns="9144" rIns="9144" tIns="0" bIns="0" anchor="t">
            <a:spAutoFit/>
          </a:bodyPr>
          <a:lstStyle/>
          <a:p>
            <a:pPr algn="ctr">
              <a:lnSpc>
                <a:spcPct val="108000"/>
              </a:lnSpc>
              <a:spcBef>
                <a:spcPts val="0"/>
              </a:spcBef>
              <a:spcAft>
                <a:spcPts val="0"/>
              </a:spcAft>
            </a:pPr>
            <a:r>
              <a:rPr sz="1600" b="0">
                <a:solidFill>
                  <a:srgbClr val="62757A"/>
                </a:solidFill>
                <a:latin typeface="Liberation Sans"/>
              </a:rPr>
              <a:t>read / write</a:t>
            </a:r>
          </a:p>
        </p:txBody>
      </p:sp>
      <p:cxnSp>
        <p:nvCxnSpPr>
          <p:cNvPr id="26" name="Connector 25"/>
          <p:cNvCxnSpPr/>
          <p:nvPr/>
        </p:nvCxnSpPr>
        <p:spPr>
          <a:xfrm flipV="1">
            <a:off x="9893808" y="3419856"/>
            <a:ext cx="0" cy="676656"/>
          </a:xfrm>
          <a:prstGeom prst="line">
            <a:avLst/>
          </a:prstGeom>
          <a:ln w="25400">
            <a:solidFill>
              <a:srgbClr val="008C91"/>
            </a:solidFill>
            <a:tailEnd type="triangle"/>
          </a:ln>
        </p:spPr>
        <p:style>
          <a:lnRef idx="2">
            <a:schemeClr val="accent1"/>
          </a:lnRef>
          <a:fillRef idx="0">
            <a:schemeClr val="accent1"/>
          </a:fillRef>
          <a:effectRef idx="1">
            <a:schemeClr val="accent1"/>
          </a:effectRef>
          <a:fontRef idx="minor">
            <a:schemeClr val="tx1"/>
          </a:fontRef>
        </p:style>
      </p:cxnSp>
      <p:sp>
        <p:nvSpPr>
          <p:cNvPr id="27" name="Text claim +&#10;progress"/>
          <p:cNvSpPr txBox="1"/>
          <p:nvPr/>
        </p:nvSpPr>
        <p:spPr>
          <a:xfrm>
            <a:off x="10085832" y="3538728"/>
            <a:ext cx="1554480" cy="502920"/>
          </a:xfrm>
          <a:prstGeom prst="rect">
            <a:avLst/>
          </a:prstGeom>
          <a:noFill/>
        </p:spPr>
        <p:txBody>
          <a:bodyPr wrap="square" lIns="9144" rIns="9144" tIns="0" bIns="0" anchor="t">
            <a:spAutoFit/>
          </a:bodyPr>
          <a:lstStyle/>
          <a:p>
            <a:pPr>
              <a:lnSpc>
                <a:spcPct val="108000"/>
              </a:lnSpc>
              <a:spcBef>
                <a:spcPts val="0"/>
              </a:spcBef>
              <a:spcAft>
                <a:spcPts val="0"/>
              </a:spcAft>
            </a:pPr>
            <a:r>
              <a:rPr sz="1700" b="0">
                <a:solidFill>
                  <a:srgbClr val="62757A"/>
                </a:solidFill>
                <a:latin typeface="Liberation Sans"/>
              </a:rPr>
              <a:t>claim +</a:t>
            </a:r>
          </a:p>
          <a:p>
            <a:pPr>
              <a:lnSpc>
                <a:spcPct val="108000"/>
              </a:lnSpc>
              <a:spcBef>
                <a:spcPts val="0"/>
              </a:spcBef>
              <a:spcAft>
                <a:spcPts val="0"/>
              </a:spcAft>
            </a:pPr>
            <a:r>
              <a:rPr sz="1700" b="0">
                <a:solidFill>
                  <a:srgbClr val="62757A"/>
                </a:solidFill>
                <a:latin typeface="Liberation Sans"/>
              </a:rPr>
              <a:t>progress</a:t>
            </a:r>
          </a:p>
        </p:txBody>
      </p:sp>
      <p:cxnSp>
        <p:nvCxnSpPr>
          <p:cNvPr id="28" name="Connector 27"/>
          <p:cNvCxnSpPr/>
          <p:nvPr/>
        </p:nvCxnSpPr>
        <p:spPr>
          <a:xfrm flipH="1">
            <a:off x="6903720" y="4800600"/>
            <a:ext cx="1234440" cy="0"/>
          </a:xfrm>
          <a:prstGeom prst="line">
            <a:avLst/>
          </a:prstGeom>
          <a:ln w="25400">
            <a:solidFill>
              <a:srgbClr val="008C91"/>
            </a:solidFill>
            <a:tailEnd type="triangle"/>
          </a:ln>
        </p:spPr>
        <p:style>
          <a:lnRef idx="2">
            <a:schemeClr val="accent1"/>
          </a:lnRef>
          <a:fillRef idx="0">
            <a:schemeClr val="accent1"/>
          </a:fillRef>
          <a:effectRef idx="1">
            <a:schemeClr val="accent1"/>
          </a:effectRef>
          <a:fontRef idx="minor">
            <a:schemeClr val="tx1"/>
          </a:fontRef>
        </p:style>
      </p:cxnSp>
      <p:sp>
        <p:nvSpPr>
          <p:cNvPr id="29" name="Text store"/>
          <p:cNvSpPr txBox="1"/>
          <p:nvPr/>
        </p:nvSpPr>
        <p:spPr>
          <a:xfrm>
            <a:off x="6903720" y="4343400"/>
            <a:ext cx="1225296" cy="347472"/>
          </a:xfrm>
          <a:prstGeom prst="rect">
            <a:avLst/>
          </a:prstGeom>
          <a:noFill/>
        </p:spPr>
        <p:txBody>
          <a:bodyPr wrap="square" lIns="9144" rIns="9144" tIns="0" bIns="0" anchor="t">
            <a:spAutoFit/>
          </a:bodyPr>
          <a:lstStyle/>
          <a:p>
            <a:pPr algn="ctr">
              <a:lnSpc>
                <a:spcPct val="108000"/>
              </a:lnSpc>
              <a:spcBef>
                <a:spcPts val="0"/>
              </a:spcBef>
              <a:spcAft>
                <a:spcPts val="0"/>
              </a:spcAft>
            </a:pPr>
            <a:r>
              <a:rPr sz="1700" b="0">
                <a:solidFill>
                  <a:srgbClr val="62757A"/>
                </a:solidFill>
                <a:latin typeface="Liberation Sans"/>
              </a:rPr>
              <a:t>store</a:t>
            </a:r>
          </a:p>
        </p:txBody>
      </p:sp>
      <p:sp>
        <p:nvSpPr>
          <p:cNvPr id="30" name="Text Stopping observation&#10;does not ca"/>
          <p:cNvSpPr txBox="1"/>
          <p:nvPr/>
        </p:nvSpPr>
        <p:spPr>
          <a:xfrm>
            <a:off x="594360" y="4224528"/>
            <a:ext cx="2834640" cy="1161288"/>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17363D"/>
                </a:solidFill>
                <a:latin typeface="Liberation Sans"/>
              </a:rPr>
              <a:t>Stopping observation</a:t>
            </a:r>
          </a:p>
          <a:p>
            <a:pPr>
              <a:lnSpc>
                <a:spcPct val="108000"/>
              </a:lnSpc>
              <a:spcBef>
                <a:spcPts val="0"/>
              </a:spcBef>
              <a:spcAft>
                <a:spcPts val="0"/>
              </a:spcAft>
            </a:pPr>
            <a:r>
              <a:rPr sz="2500" b="1">
                <a:solidFill>
                  <a:srgbClr val="17363D"/>
                </a:solidFill>
                <a:latin typeface="Liberation Sans"/>
              </a:rPr>
              <a:t>does not cancel</a:t>
            </a:r>
          </a:p>
          <a:p>
            <a:pPr>
              <a:lnSpc>
                <a:spcPct val="108000"/>
              </a:lnSpc>
              <a:spcBef>
                <a:spcPts val="0"/>
              </a:spcBef>
              <a:spcAft>
                <a:spcPts val="0"/>
              </a:spcAft>
            </a:pPr>
            <a:r>
              <a:rPr sz="2500" b="1">
                <a:solidFill>
                  <a:srgbClr val="17363D"/>
                </a:solidFill>
                <a:latin typeface="Liberation Sans"/>
              </a:rPr>
              <a:t>the worker’s job.</a:t>
            </a:r>
          </a:p>
        </p:txBody>
      </p:sp>
      <p:sp>
        <p:nvSpPr>
          <p:cNvPr id="31" name="Text Three real outputs: thumbnail, p"/>
          <p:cNvSpPr txBox="1"/>
          <p:nvPr/>
        </p:nvSpPr>
        <p:spPr>
          <a:xfrm>
            <a:off x="594360" y="5852160"/>
            <a:ext cx="10972800" cy="365760"/>
          </a:xfrm>
          <a:prstGeom prst="rect">
            <a:avLst/>
          </a:prstGeom>
          <a:noFill/>
        </p:spPr>
        <p:txBody>
          <a:bodyPr wrap="square" lIns="9144" rIns="9144" tIns="0" bIns="0" anchor="t">
            <a:spAutoFit/>
          </a:bodyPr>
          <a:lstStyle/>
          <a:p>
            <a:pPr>
              <a:lnSpc>
                <a:spcPct val="108000"/>
              </a:lnSpc>
              <a:spcBef>
                <a:spcPts val="0"/>
              </a:spcBef>
              <a:spcAft>
                <a:spcPts val="0"/>
              </a:spcAft>
            </a:pPr>
            <a:r>
              <a:rPr sz="2400" b="0">
                <a:solidFill>
                  <a:srgbClr val="304B53"/>
                </a:solidFill>
                <a:latin typeface="Liberation Sans"/>
              </a:rPr>
              <a:t>Three real outputs: thumbnail, preview and display.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Same snapshots, different reques"/>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Same snapshots, different request timing</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Observation model</a:t>
            </a:r>
          </a:p>
        </p:txBody>
      </p:sp>
      <p:sp>
        <p:nvSpPr>
          <p:cNvPr id="5" name="Text 03"/>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03</a:t>
            </a:r>
          </a:p>
        </p:txBody>
      </p:sp>
      <p:sp>
        <p:nvSpPr>
          <p:cNvPr id="6" name="Rounded Rectangle 5"/>
          <p:cNvSpPr/>
          <p:nvPr/>
        </p:nvSpPr>
        <p:spPr>
          <a:xfrm>
            <a:off x="548640" y="1353312"/>
            <a:ext cx="5431536" cy="2907792"/>
          </a:xfrm>
          <a:prstGeom prst="roundRect">
            <a:avLst>
              <a:gd name="adj" fmla="val 12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Short polling"/>
          <p:cNvSpPr txBox="1"/>
          <p:nvPr/>
        </p:nvSpPr>
        <p:spPr>
          <a:xfrm>
            <a:off x="758952" y="1536192"/>
            <a:ext cx="5010912" cy="411480"/>
          </a:xfrm>
          <a:prstGeom prst="rect">
            <a:avLst/>
          </a:prstGeom>
          <a:noFill/>
        </p:spPr>
        <p:txBody>
          <a:bodyPr wrap="square" lIns="9144" rIns="9144" tIns="0" bIns="0" anchor="t">
            <a:spAutoFit/>
          </a:bodyPr>
          <a:lstStyle/>
          <a:p>
            <a:pPr>
              <a:lnSpc>
                <a:spcPct val="108000"/>
              </a:lnSpc>
              <a:spcBef>
                <a:spcPts val="0"/>
              </a:spcBef>
              <a:spcAft>
                <a:spcPts val="0"/>
              </a:spcAft>
            </a:pPr>
            <a:r>
              <a:rPr sz="2600" b="1">
                <a:solidFill>
                  <a:srgbClr val="CF167E"/>
                </a:solidFill>
                <a:latin typeface="Liberation Sans"/>
              </a:rPr>
              <a:t>Short polling</a:t>
            </a:r>
          </a:p>
        </p:txBody>
      </p:sp>
      <p:sp>
        <p:nvSpPr>
          <p:cNvPr id="8" name="Text GET the current snapshot&#10;Wait 1 "/>
          <p:cNvSpPr txBox="1"/>
          <p:nvPr/>
        </p:nvSpPr>
        <p:spPr>
          <a:xfrm>
            <a:off x="758952" y="2112264"/>
            <a:ext cx="5010912" cy="1993392"/>
          </a:xfrm>
          <a:prstGeom prst="rect">
            <a:avLst/>
          </a:prstGeom>
          <a:noFill/>
        </p:spPr>
        <p:txBody>
          <a:bodyPr wrap="square" lIns="9144" rIns="9144" tIns="0" bIns="0" anchor="t">
            <a:spAutoFit/>
          </a:bodyPr>
          <a:lstStyle/>
          <a:p>
            <a:pPr>
              <a:lnSpc>
                <a:spcPct val="108000"/>
              </a:lnSpc>
              <a:spcBef>
                <a:spcPts val="0"/>
              </a:spcBef>
              <a:spcAft>
                <a:spcPts val="0"/>
              </a:spcAft>
            </a:pPr>
            <a:r>
              <a:rPr sz="2500" b="0">
                <a:solidFill>
                  <a:srgbClr val="304B53"/>
                </a:solidFill>
                <a:latin typeface="Liberation Sans"/>
              </a:rPr>
              <a:t>GET the current snapshot</a:t>
            </a:r>
          </a:p>
          <a:p>
            <a:pPr>
              <a:lnSpc>
                <a:spcPct val="108000"/>
              </a:lnSpc>
              <a:spcBef>
                <a:spcPts val="0"/>
              </a:spcBef>
              <a:spcAft>
                <a:spcPts val="0"/>
              </a:spcAft>
            </a:pPr>
            <a:r>
              <a:rPr sz="2500" b="0">
                <a:solidFill>
                  <a:srgbClr val="304B53"/>
                </a:solidFill>
                <a:latin typeface="Liberation Sans"/>
              </a:rPr>
              <a:t>Wait 1 second after the response</a:t>
            </a:r>
          </a:p>
          <a:p>
            <a:pPr>
              <a:lnSpc>
                <a:spcPct val="108000"/>
              </a:lnSpc>
              <a:spcBef>
                <a:spcPts val="0"/>
              </a:spcBef>
              <a:spcAft>
                <a:spcPts val="0"/>
              </a:spcAft>
            </a:pPr>
            <a:r>
              <a:rPr sz="2500" b="0">
                <a:solidFill>
                  <a:srgbClr val="304B53"/>
                </a:solidFill>
                <a:latin typeface="Liberation Sans"/>
              </a:rPr>
              <a:t>Send the next GET</a:t>
            </a:r>
          </a:p>
        </p:txBody>
      </p:sp>
      <p:sp>
        <p:nvSpPr>
          <p:cNvPr id="9" name="Rounded Rectangle 8"/>
          <p:cNvSpPr/>
          <p:nvPr/>
        </p:nvSpPr>
        <p:spPr>
          <a:xfrm>
            <a:off x="6208776" y="1353312"/>
            <a:ext cx="5431536" cy="2907792"/>
          </a:xfrm>
          <a:prstGeom prst="roundRect">
            <a:avLst>
              <a:gd name="adj" fmla="val 12000"/>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Long polling"/>
          <p:cNvSpPr txBox="1"/>
          <p:nvPr/>
        </p:nvSpPr>
        <p:spPr>
          <a:xfrm>
            <a:off x="6419088" y="1536192"/>
            <a:ext cx="5010912" cy="411480"/>
          </a:xfrm>
          <a:prstGeom prst="rect">
            <a:avLst/>
          </a:prstGeom>
          <a:noFill/>
        </p:spPr>
        <p:txBody>
          <a:bodyPr wrap="square" lIns="9144" rIns="9144" tIns="0" bIns="0" anchor="t">
            <a:spAutoFit/>
          </a:bodyPr>
          <a:lstStyle/>
          <a:p>
            <a:pPr>
              <a:lnSpc>
                <a:spcPct val="108000"/>
              </a:lnSpc>
              <a:spcBef>
                <a:spcPts val="0"/>
              </a:spcBef>
              <a:spcAft>
                <a:spcPts val="0"/>
              </a:spcAft>
            </a:pPr>
            <a:r>
              <a:rPr sz="2600" b="1">
                <a:solidFill>
                  <a:srgbClr val="008C91"/>
                </a:solidFill>
                <a:latin typeface="Liberation Sans"/>
              </a:rPr>
              <a:t>Long polling</a:t>
            </a:r>
          </a:p>
        </p:txBody>
      </p:sp>
      <p:sp>
        <p:nvSpPr>
          <p:cNvPr id="11" name="Text GET with the last version&#10;Wait f"/>
          <p:cNvSpPr txBox="1"/>
          <p:nvPr/>
        </p:nvSpPr>
        <p:spPr>
          <a:xfrm>
            <a:off x="6419088" y="2112264"/>
            <a:ext cx="5010912" cy="1993392"/>
          </a:xfrm>
          <a:prstGeom prst="rect">
            <a:avLst/>
          </a:prstGeom>
          <a:noFill/>
        </p:spPr>
        <p:txBody>
          <a:bodyPr wrap="square" lIns="9144" rIns="9144" tIns="0" bIns="0" anchor="t">
            <a:spAutoFit/>
          </a:bodyPr>
          <a:lstStyle/>
          <a:p>
            <a:pPr>
              <a:lnSpc>
                <a:spcPct val="108000"/>
              </a:lnSpc>
              <a:spcBef>
                <a:spcPts val="0"/>
              </a:spcBef>
              <a:spcAft>
                <a:spcPts val="0"/>
              </a:spcAft>
            </a:pPr>
            <a:r>
              <a:rPr sz="2500" b="0">
                <a:solidFill>
                  <a:srgbClr val="304B53"/>
                </a:solidFill>
                <a:latin typeface="Liberation Sans"/>
              </a:rPr>
              <a:t>GET with the last version</a:t>
            </a:r>
          </a:p>
          <a:p>
            <a:pPr>
              <a:lnSpc>
                <a:spcPct val="108000"/>
              </a:lnSpc>
              <a:spcBef>
                <a:spcPts val="0"/>
              </a:spcBef>
              <a:spcAft>
                <a:spcPts val="0"/>
              </a:spcAft>
            </a:pPr>
            <a:r>
              <a:rPr sz="2500" b="0">
                <a:solidFill>
                  <a:srgbClr val="304B53"/>
                </a:solidFill>
                <a:latin typeface="Liberation Sans"/>
              </a:rPr>
              <a:t>Wait for change or a 20 s deadline</a:t>
            </a:r>
          </a:p>
          <a:p>
            <a:pPr>
              <a:lnSpc>
                <a:spcPct val="108000"/>
              </a:lnSpc>
              <a:spcBef>
                <a:spcPts val="0"/>
              </a:spcBef>
              <a:spcAft>
                <a:spcPts val="0"/>
              </a:spcAft>
            </a:pPr>
            <a:r>
              <a:rPr sz="2500" b="0">
                <a:solidFill>
                  <a:srgbClr val="304B53"/>
                </a:solidFill>
                <a:latin typeface="Liberation Sans"/>
              </a:rPr>
              <a:t>Immediately send the next GET</a:t>
            </a:r>
          </a:p>
        </p:txBody>
      </p:sp>
      <p:sp>
        <p:nvSpPr>
          <p:cNvPr id="12" name="Text Version: an increasing number fo"/>
          <p:cNvSpPr txBox="1"/>
          <p:nvPr/>
        </p:nvSpPr>
        <p:spPr>
          <a:xfrm>
            <a:off x="768096" y="4572000"/>
            <a:ext cx="10881360" cy="512064"/>
          </a:xfrm>
          <a:prstGeom prst="rect">
            <a:avLst/>
          </a:prstGeom>
          <a:noFill/>
        </p:spPr>
        <p:txBody>
          <a:bodyPr wrap="square" lIns="9144" rIns="9144" tIns="0" bIns="0" anchor="t">
            <a:spAutoFit/>
          </a:bodyPr>
          <a:lstStyle/>
          <a:p>
            <a:pPr>
              <a:lnSpc>
                <a:spcPct val="108000"/>
              </a:lnSpc>
              <a:spcBef>
                <a:spcPts val="0"/>
              </a:spcBef>
              <a:spcAft>
                <a:spcPts val="0"/>
              </a:spcAft>
            </a:pPr>
            <a:r>
              <a:rPr sz="2600" b="1">
                <a:solidFill>
                  <a:srgbClr val="17363D"/>
                </a:solidFill>
                <a:latin typeface="Liberation Sans"/>
              </a:rPr>
              <a:t>Version: an increasing number for a changed job representation.</a:t>
            </a:r>
          </a:p>
        </p:txBody>
      </p:sp>
      <p:sp>
        <p:nvSpPr>
          <p:cNvPr id="13" name="Text Snapshot: the current state, not"/>
          <p:cNvSpPr txBox="1"/>
          <p:nvPr/>
        </p:nvSpPr>
        <p:spPr>
          <a:xfrm>
            <a:off x="768096" y="5330952"/>
            <a:ext cx="10789920" cy="731520"/>
          </a:xfrm>
          <a:prstGeom prst="rect">
            <a:avLst/>
          </a:prstGeom>
          <a:noFill/>
        </p:spPr>
        <p:txBody>
          <a:bodyPr wrap="square" lIns="9144" rIns="9144" tIns="0" bIns="0" anchor="t">
            <a:spAutoFit/>
          </a:bodyPr>
          <a:lstStyle/>
          <a:p>
            <a:pPr>
              <a:lnSpc>
                <a:spcPct val="108000"/>
              </a:lnSpc>
              <a:spcBef>
                <a:spcPts val="0"/>
              </a:spcBef>
              <a:spcAft>
                <a:spcPts val="0"/>
              </a:spcAft>
            </a:pPr>
            <a:r>
              <a:rPr sz="2400" b="0">
                <a:solidFill>
                  <a:srgbClr val="304B53"/>
                </a:solidFill>
                <a:latin typeface="Liberation Sans"/>
              </a:rPr>
              <a:t>Snapshot: the current state, not a history of every update.</a:t>
            </a:r>
          </a:p>
          <a:p>
            <a:pPr>
              <a:lnSpc>
                <a:spcPct val="108000"/>
              </a:lnSpc>
              <a:spcBef>
                <a:spcPts val="0"/>
              </a:spcBef>
              <a:spcAft>
                <a:spcPts val="0"/>
              </a:spcAft>
            </a:pPr>
            <a:r>
              <a:rPr sz="2400" b="0">
                <a:solidFill>
                  <a:srgbClr val="304B53"/>
                </a:solidFill>
                <a:latin typeface="Liberation Sans"/>
              </a:rPr>
              <a:t>A normal 204 means no change before the holding deadline.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Save truthful progress, then not"/>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Save truthful progress, then notify</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Server implementation</a:t>
            </a:r>
          </a:p>
        </p:txBody>
      </p:sp>
      <p:sp>
        <p:nvSpPr>
          <p:cNvPr id="5" name="Text 04"/>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04</a:t>
            </a:r>
          </a:p>
        </p:txBody>
      </p:sp>
      <p:sp>
        <p:nvSpPr>
          <p:cNvPr id="6" name="Text PostgreSQL stores the authoritat"/>
          <p:cNvSpPr txBox="1"/>
          <p:nvPr/>
        </p:nvSpPr>
        <p:spPr>
          <a:xfrm>
            <a:off x="548640" y="1060704"/>
            <a:ext cx="11064240" cy="393192"/>
          </a:xfrm>
          <a:prstGeom prst="rect">
            <a:avLst/>
          </a:prstGeom>
          <a:noFill/>
        </p:spPr>
        <p:txBody>
          <a:bodyPr wrap="square" lIns="9144" rIns="9144" tIns="0" bIns="0" anchor="t">
            <a:spAutoFit/>
          </a:bodyPr>
          <a:lstStyle/>
          <a:p>
            <a:pPr>
              <a:lnSpc>
                <a:spcPct val="108000"/>
              </a:lnSpc>
              <a:spcBef>
                <a:spcPts val="0"/>
              </a:spcBef>
              <a:spcAft>
                <a:spcPts val="0"/>
              </a:spcAft>
            </a:pPr>
            <a:r>
              <a:rPr sz="2500" b="0">
                <a:solidFill>
                  <a:srgbClr val="304B53"/>
                </a:solidFill>
                <a:latin typeface="Liberation Sans"/>
              </a:rPr>
              <a:t>PostgreSQL stores the authoritative state and version together.</a:t>
            </a:r>
          </a:p>
        </p:txBody>
      </p:sp>
      <p:sp>
        <p:nvSpPr>
          <p:cNvPr id="7" name="Rounded Rectangle 6"/>
          <p:cNvSpPr/>
          <p:nvPr/>
        </p:nvSpPr>
        <p:spPr>
          <a:xfrm>
            <a:off x="548640" y="1755648"/>
            <a:ext cx="5486400" cy="3520440"/>
          </a:xfrm>
          <a:prstGeom prst="roundRect">
            <a:avLst>
              <a:gd name="adj" fmla="val 12000"/>
            </a:avLst>
          </a:prstGeom>
          <a:solidFill>
            <a:srgbClr val="F3F7F7"/>
          </a:solidFill>
          <a:ln w="10160">
            <a:solidFill>
              <a:srgbClr val="DD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UPDATE jobs&#10;SET&#10;  variants_compl"/>
          <p:cNvSpPr txBox="1"/>
          <p:nvPr/>
        </p:nvSpPr>
        <p:spPr>
          <a:xfrm>
            <a:off x="722376" y="1892807"/>
            <a:ext cx="5138928" cy="3255264"/>
          </a:xfrm>
          <a:prstGeom prst="rect">
            <a:avLst/>
          </a:prstGeom>
          <a:noFill/>
        </p:spPr>
        <p:txBody>
          <a:bodyPr wrap="square" lIns="9144" rIns="9144" tIns="0" bIns="0" anchor="t">
            <a:spAutoFit/>
          </a:bodyPr>
          <a:lstStyle/>
          <a:p>
            <a:pPr>
              <a:lnSpc>
                <a:spcPts val="2250"/>
              </a:lnSpc>
              <a:spcBef>
                <a:spcPts val="0"/>
              </a:spcBef>
              <a:spcAft>
                <a:spcPts val="0"/>
              </a:spcAft>
            </a:pPr>
            <a:r>
              <a:rPr sz="1800" b="0">
                <a:solidFill>
                  <a:srgbClr val="304B53"/>
                </a:solidFill>
                <a:latin typeface="Liberation Mono"/>
              </a:rPr>
              <a:t>UPDATE jobs</a:t>
            </a:r>
          </a:p>
          <a:p>
            <a:pPr>
              <a:lnSpc>
                <a:spcPts val="2250"/>
              </a:lnSpc>
              <a:spcBef>
                <a:spcPts val="0"/>
              </a:spcBef>
              <a:spcAft>
                <a:spcPts val="0"/>
              </a:spcAft>
            </a:pPr>
            <a:r>
              <a:rPr sz="1800" b="0">
                <a:solidFill>
                  <a:srgbClr val="304B53"/>
                </a:solidFill>
                <a:latin typeface="Liberation Mono"/>
              </a:rPr>
              <a:t>SET</a:t>
            </a:r>
          </a:p>
          <a:p>
            <a:pPr>
              <a:lnSpc>
                <a:spcPts val="2250"/>
              </a:lnSpc>
              <a:spcBef>
                <a:spcPts val="0"/>
              </a:spcBef>
              <a:spcAft>
                <a:spcPts val="0"/>
              </a:spcAft>
            </a:pPr>
            <a:r>
              <a:rPr sz="1800" b="1">
                <a:solidFill>
                  <a:srgbClr val="008C91"/>
                </a:solidFill>
                <a:latin typeface="Liberation Mono"/>
              </a:rPr>
              <a:t>  variants_completed=</a:t>
            </a:r>
          </a:p>
          <a:p>
            <a:pPr>
              <a:lnSpc>
                <a:spcPts val="2250"/>
              </a:lnSpc>
              <a:spcBef>
                <a:spcPts val="0"/>
              </a:spcBef>
              <a:spcAft>
                <a:spcPts val="0"/>
              </a:spcAft>
            </a:pPr>
            <a:r>
              <a:rPr sz="1800" b="0">
                <a:solidFill>
                  <a:srgbClr val="304B53"/>
                </a:solidFill>
                <a:latin typeface="Liberation Mono"/>
              </a:rPr>
              <a:t>    variants_completed+1,</a:t>
            </a:r>
          </a:p>
          <a:p>
            <a:pPr>
              <a:lnSpc>
                <a:spcPts val="2250"/>
              </a:lnSpc>
              <a:spcBef>
                <a:spcPts val="0"/>
              </a:spcBef>
              <a:spcAft>
                <a:spcPts val="0"/>
              </a:spcAft>
            </a:pPr>
            <a:r>
              <a:rPr sz="1800" b="0">
                <a:solidFill>
                  <a:srgbClr val="304B53"/>
                </a:solidFill>
                <a:latin typeface="Liberation Mono"/>
              </a:rPr>
              <a:t>  stage=$2,</a:t>
            </a:r>
          </a:p>
          <a:p>
            <a:pPr>
              <a:lnSpc>
                <a:spcPts val="2250"/>
              </a:lnSpc>
              <a:spcBef>
                <a:spcPts val="0"/>
              </a:spcBef>
              <a:spcAft>
                <a:spcPts val="0"/>
              </a:spcAft>
            </a:pPr>
            <a:r>
              <a:rPr sz="1800" b="1">
                <a:solidFill>
                  <a:srgbClr val="008C91"/>
                </a:solidFill>
                <a:latin typeface="Liberation Mono"/>
              </a:rPr>
              <a:t>  version=version+1</a:t>
            </a:r>
          </a:p>
          <a:p>
            <a:pPr>
              <a:lnSpc>
                <a:spcPts val="2250"/>
              </a:lnSpc>
              <a:spcBef>
                <a:spcPts val="0"/>
              </a:spcBef>
              <a:spcAft>
                <a:spcPts val="0"/>
              </a:spcAft>
            </a:pPr>
            <a:r>
              <a:rPr sz="1800" b="0">
                <a:solidFill>
                  <a:srgbClr val="304B53"/>
                </a:solidFill>
                <a:latin typeface="Liberation Mono"/>
              </a:rPr>
              <a:t>WHERE id=$1 AND status='processing'</a:t>
            </a:r>
          </a:p>
          <a:p>
            <a:pPr>
              <a:lnSpc>
                <a:spcPts val="2250"/>
              </a:lnSpc>
              <a:spcBef>
                <a:spcPts val="0"/>
              </a:spcBef>
              <a:spcAft>
                <a:spcPts val="0"/>
              </a:spcAft>
            </a:pPr>
            <a:r>
              <a:rPr sz="1800" b="0">
                <a:solidFill>
                  <a:srgbClr val="304B53"/>
                </a:solidFill>
                <a:latin typeface="Liberation Mono"/>
              </a:rPr>
              <a:t>  AND variants_completed&lt;3</a:t>
            </a:r>
          </a:p>
          <a:p>
            <a:pPr>
              <a:lnSpc>
                <a:spcPts val="2250"/>
              </a:lnSpc>
              <a:spcBef>
                <a:spcPts val="0"/>
              </a:spcBef>
              <a:spcAft>
                <a:spcPts val="0"/>
              </a:spcAft>
            </a:pPr>
            <a:r>
              <a:rPr sz="1800" b="0">
                <a:solidFill>
                  <a:srgbClr val="304B53"/>
                </a:solidFill>
                <a:latin typeface="Liberation Mono"/>
              </a:rPr>
              <a:t>RETURNING version,variants_completed</a:t>
            </a:r>
          </a:p>
        </p:txBody>
      </p:sp>
      <p:sp>
        <p:nvSpPr>
          <p:cNvPr id="9" name="Text internal/data/jobs.go · Mileston"/>
          <p:cNvSpPr txBox="1"/>
          <p:nvPr/>
        </p:nvSpPr>
        <p:spPr>
          <a:xfrm>
            <a:off x="548640" y="5349240"/>
            <a:ext cx="5486400" cy="246888"/>
          </a:xfrm>
          <a:prstGeom prst="rect">
            <a:avLst/>
          </a:prstGeom>
          <a:noFill/>
        </p:spPr>
        <p:txBody>
          <a:bodyPr wrap="square" lIns="9144" rIns="9144" tIns="0" bIns="0" anchor="t">
            <a:spAutoFit/>
          </a:bodyPr>
          <a:lstStyle/>
          <a:p>
            <a:pPr>
              <a:lnSpc>
                <a:spcPct val="108000"/>
              </a:lnSpc>
              <a:spcBef>
                <a:spcPts val="0"/>
              </a:spcBef>
              <a:spcAft>
                <a:spcPts val="0"/>
              </a:spcAft>
            </a:pPr>
            <a:r>
              <a:rPr sz="1300" b="0">
                <a:solidFill>
                  <a:srgbClr val="62757A"/>
                </a:solidFill>
                <a:latin typeface="Liberation Sans"/>
              </a:rPr>
              <a:t>internal/data/jobs.go · Milestone() SQL</a:t>
            </a:r>
          </a:p>
        </p:txBody>
      </p:sp>
      <p:sp>
        <p:nvSpPr>
          <p:cNvPr id="10" name="Rounded Rectangle 9"/>
          <p:cNvSpPr/>
          <p:nvPr/>
        </p:nvSpPr>
        <p:spPr>
          <a:xfrm>
            <a:off x="6254496" y="1755648"/>
            <a:ext cx="5385816" cy="3520440"/>
          </a:xfrm>
          <a:prstGeom prst="roundRect">
            <a:avLst>
              <a:gd name="adj" fmla="val 12000"/>
            </a:avLst>
          </a:prstGeom>
          <a:solidFill>
            <a:srgbClr val="F3F7F7"/>
          </a:solidFill>
          <a:ln w="10160">
            <a:solidFill>
              <a:srgbClr val="DD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if err = tx.Commit(); err != nil"/>
          <p:cNvSpPr txBox="1"/>
          <p:nvPr/>
        </p:nvSpPr>
        <p:spPr>
          <a:xfrm>
            <a:off x="6428232" y="1892807"/>
            <a:ext cx="5038344" cy="3255264"/>
          </a:xfrm>
          <a:prstGeom prst="rect">
            <a:avLst/>
          </a:prstGeom>
          <a:noFill/>
        </p:spPr>
        <p:txBody>
          <a:bodyPr wrap="square" lIns="9144" rIns="9144" tIns="0" bIns="0" anchor="t">
            <a:spAutoFit/>
          </a:bodyPr>
          <a:lstStyle/>
          <a:p>
            <a:pPr>
              <a:lnSpc>
                <a:spcPts val="2250"/>
              </a:lnSpc>
              <a:spcBef>
                <a:spcPts val="0"/>
              </a:spcBef>
              <a:spcAft>
                <a:spcPts val="0"/>
              </a:spcAft>
            </a:pPr>
            <a:r>
              <a:rPr sz="1800" b="1">
                <a:solidFill>
                  <a:srgbClr val="008C91"/>
                </a:solidFill>
                <a:latin typeface="Liberation Mono"/>
              </a:rPr>
              <a:t>if err = tx.Commit(); err != nil {</a:t>
            </a:r>
          </a:p>
          <a:p>
            <a:pPr>
              <a:lnSpc>
                <a:spcPts val="2250"/>
              </a:lnSpc>
              <a:spcBef>
                <a:spcPts val="0"/>
              </a:spcBef>
              <a:spcAft>
                <a:spcPts val="0"/>
              </a:spcAft>
            </a:pPr>
            <a:r>
              <a:rPr sz="1800" b="0">
                <a:solidFill>
                  <a:srgbClr val="304B53"/>
                </a:solidFill>
                <a:latin typeface="Liberation Mono"/>
              </a:rPr>
              <a:t>    return err</a:t>
            </a:r>
          </a:p>
          <a:p>
            <a:pPr>
              <a:lnSpc>
                <a:spcPts val="2250"/>
              </a:lnSpc>
              <a:spcBef>
                <a:spcPts val="0"/>
              </a:spcBef>
              <a:spcAft>
                <a:spcPts val="0"/>
              </a:spcAft>
            </a:pPr>
            <a:r>
              <a:rPr sz="1800" b="0">
                <a:solidFill>
                  <a:srgbClr val="304B53"/>
                </a:solidFill>
                <a:latin typeface="Liberation Mono"/>
              </a:rPr>
              <a:t>}</a:t>
            </a:r>
          </a:p>
          <a:p>
            <a:pPr>
              <a:lnSpc>
                <a:spcPts val="2250"/>
              </a:lnSpc>
              <a:spcBef>
                <a:spcPts val="0"/>
              </a:spcBef>
              <a:spcAft>
                <a:spcPts val="0"/>
              </a:spcAft>
            </a:pPr>
            <a:r>
              <a:rPr sz="1800" b="0">
                <a:solidFill>
                  <a:srgbClr val="304B53"/>
                </a:solidFill>
                <a:latin typeface="Liberation Mono"/>
              </a:rPr>
              <a:t>j.Stage = v.Name + "_ready"</a:t>
            </a:r>
          </a:p>
          <a:p>
            <a:pPr>
              <a:lnSpc>
                <a:spcPts val="2250"/>
              </a:lnSpc>
              <a:spcBef>
                <a:spcPts val="0"/>
              </a:spcBef>
              <a:spcAft>
                <a:spcPts val="0"/>
              </a:spcAft>
            </a:pPr>
            <a:r>
              <a:rPr sz="1800" b="0">
                <a:solidFill>
                  <a:srgbClr val="304B53"/>
                </a:solidFill>
                <a:latin typeface="Liberation Mono"/>
              </a:rPr>
              <a:t>j.Status = "processing"</a:t>
            </a:r>
          </a:p>
          <a:p>
            <a:pPr>
              <a:lnSpc>
                <a:spcPts val="2250"/>
              </a:lnSpc>
              <a:spcBef>
                <a:spcPts val="0"/>
              </a:spcBef>
              <a:spcAft>
                <a:spcPts val="0"/>
              </a:spcAft>
            </a:pPr>
            <a:r>
              <a:rPr sz="1800" b="1">
                <a:solidFill>
                  <a:srgbClr val="008C91"/>
                </a:solidFill>
                <a:latin typeface="Liberation Mono"/>
              </a:rPr>
              <a:t>m.committed(j)</a:t>
            </a:r>
          </a:p>
          <a:p>
            <a:pPr>
              <a:lnSpc>
                <a:spcPts val="2250"/>
              </a:lnSpc>
              <a:spcBef>
                <a:spcPts val="0"/>
              </a:spcBef>
              <a:spcAft>
                <a:spcPts val="0"/>
              </a:spcAft>
            </a:pPr>
            <a:r>
              <a:rPr sz="1800" b="0">
                <a:solidFill>
                  <a:srgbClr val="304B53"/>
                </a:solidFill>
                <a:latin typeface="Liberation Mono"/>
              </a:rPr>
              <a:t>… committed() helper …</a:t>
            </a:r>
          </a:p>
          <a:p>
            <a:pPr>
              <a:lnSpc>
                <a:spcPts val="2250"/>
              </a:lnSpc>
              <a:spcBef>
                <a:spcPts val="0"/>
              </a:spcBef>
              <a:spcAft>
                <a:spcPts val="0"/>
              </a:spcAft>
            </a:pPr>
            <a:r>
              <a:rPr sz="1800" b="0">
                <a:solidFill>
                  <a:srgbClr val="304B53"/>
                </a:solidFill>
                <a:latin typeface="Liberation Mono"/>
              </a:rPr>
              <a:t>if m.Changes != nil {</a:t>
            </a:r>
          </a:p>
          <a:p>
            <a:pPr>
              <a:lnSpc>
                <a:spcPts val="2250"/>
              </a:lnSpc>
              <a:spcBef>
                <a:spcPts val="0"/>
              </a:spcBef>
              <a:spcAft>
                <a:spcPts val="0"/>
              </a:spcAft>
            </a:pPr>
            <a:r>
              <a:rPr sz="1800" b="1">
                <a:solidFill>
                  <a:srgbClr val="008C91"/>
                </a:solidFill>
                <a:latin typeface="Liberation Mono"/>
              </a:rPr>
              <a:t>    m.Changes.Notify(j.PublicID)</a:t>
            </a:r>
          </a:p>
          <a:p>
            <a:pPr>
              <a:lnSpc>
                <a:spcPts val="2250"/>
              </a:lnSpc>
              <a:spcBef>
                <a:spcPts val="0"/>
              </a:spcBef>
              <a:spcAft>
                <a:spcPts val="0"/>
              </a:spcAft>
            </a:pPr>
            <a:r>
              <a:rPr sz="1800" b="0">
                <a:solidFill>
                  <a:srgbClr val="304B53"/>
                </a:solidFill>
                <a:latin typeface="Liberation Mono"/>
              </a:rPr>
              <a:t>}</a:t>
            </a:r>
          </a:p>
        </p:txBody>
      </p:sp>
      <p:sp>
        <p:nvSpPr>
          <p:cNvPr id="12" name="Text internal/data/jobs.go · selected"/>
          <p:cNvSpPr txBox="1"/>
          <p:nvPr/>
        </p:nvSpPr>
        <p:spPr>
          <a:xfrm>
            <a:off x="6254496" y="5349240"/>
            <a:ext cx="5385816" cy="246888"/>
          </a:xfrm>
          <a:prstGeom prst="rect">
            <a:avLst/>
          </a:prstGeom>
          <a:noFill/>
        </p:spPr>
        <p:txBody>
          <a:bodyPr wrap="square" lIns="9144" rIns="9144" tIns="0" bIns="0" anchor="t">
            <a:spAutoFit/>
          </a:bodyPr>
          <a:lstStyle/>
          <a:p>
            <a:pPr>
              <a:lnSpc>
                <a:spcPct val="108000"/>
              </a:lnSpc>
              <a:spcBef>
                <a:spcPts val="0"/>
              </a:spcBef>
              <a:spcAft>
                <a:spcPts val="0"/>
              </a:spcAft>
            </a:pPr>
            <a:r>
              <a:rPr sz="1300" b="0">
                <a:solidFill>
                  <a:srgbClr val="62757A"/>
                </a:solidFill>
                <a:latin typeface="Liberation Sans"/>
              </a:rPr>
              <a:t>internal/data/jobs.go · selected locations; gap marked</a:t>
            </a:r>
          </a:p>
        </p:txBody>
      </p:sp>
      <p:sp>
        <p:nvSpPr>
          <p:cNvPr id="13" name="Text Actual variant file + metadata →"/>
          <p:cNvSpPr txBox="1"/>
          <p:nvPr/>
        </p:nvSpPr>
        <p:spPr>
          <a:xfrm>
            <a:off x="768096" y="5650992"/>
            <a:ext cx="10881360" cy="512064"/>
          </a:xfrm>
          <a:prstGeom prst="rect">
            <a:avLst/>
          </a:prstGeom>
          <a:noFill/>
        </p:spPr>
        <p:txBody>
          <a:bodyPr wrap="square" lIns="9144" rIns="9144" tIns="0" bIns="0" anchor="t">
            <a:spAutoFit/>
          </a:bodyPr>
          <a:lstStyle/>
          <a:p>
            <a:pPr>
              <a:lnSpc>
                <a:spcPct val="108000"/>
              </a:lnSpc>
              <a:spcBef>
                <a:spcPts val="0"/>
              </a:spcBef>
              <a:spcAft>
                <a:spcPts val="0"/>
              </a:spcAft>
            </a:pPr>
            <a:r>
              <a:rPr sz="2300" b="1">
                <a:solidFill>
                  <a:srgbClr val="008C91"/>
                </a:solidFill>
                <a:latin typeface="Liberation Sans"/>
              </a:rPr>
              <a:t>Actual variant file + metadata → progress/version commit → broadcast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Subscribe before checking the da"/>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Subscribe before checking the database</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Waiting and notification</a:t>
            </a:r>
          </a:p>
        </p:txBody>
      </p:sp>
      <p:sp>
        <p:nvSpPr>
          <p:cNvPr id="5" name="Text 05"/>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05</a:t>
            </a:r>
          </a:p>
        </p:txBody>
      </p:sp>
      <p:sp>
        <p:nvSpPr>
          <p:cNvPr id="6" name="Text The signal tells the handler to "/>
          <p:cNvSpPr txBox="1"/>
          <p:nvPr/>
        </p:nvSpPr>
        <p:spPr>
          <a:xfrm>
            <a:off x="548640" y="1069848"/>
            <a:ext cx="11064240" cy="384048"/>
          </a:xfrm>
          <a:prstGeom prst="rect">
            <a:avLst/>
          </a:prstGeom>
          <a:noFill/>
        </p:spPr>
        <p:txBody>
          <a:bodyPr wrap="square" lIns="9144" rIns="9144" tIns="0" bIns="0" anchor="t">
            <a:spAutoFit/>
          </a:bodyPr>
          <a:lstStyle/>
          <a:p>
            <a:pPr>
              <a:lnSpc>
                <a:spcPct val="108000"/>
              </a:lnSpc>
              <a:spcBef>
                <a:spcPts val="0"/>
              </a:spcBef>
              <a:spcAft>
                <a:spcPts val="0"/>
              </a:spcAft>
            </a:pPr>
            <a:r>
              <a:rPr sz="2400" b="0">
                <a:solidFill>
                  <a:srgbClr val="304B53"/>
                </a:solidFill>
                <a:latin typeface="Liberation Sans"/>
              </a:rPr>
              <a:t>The signal tells the handler to reread the job. It does not prove success.</a:t>
            </a:r>
          </a:p>
        </p:txBody>
      </p:sp>
      <p:sp>
        <p:nvSpPr>
          <p:cNvPr id="7" name="Rounded Rectangle 6"/>
          <p:cNvSpPr/>
          <p:nvPr/>
        </p:nvSpPr>
        <p:spPr>
          <a:xfrm>
            <a:off x="548640" y="1810512"/>
            <a:ext cx="7086600" cy="3602736"/>
          </a:xfrm>
          <a:prstGeom prst="roundRect">
            <a:avLst>
              <a:gd name="adj" fmla="val 12000"/>
            </a:avLst>
          </a:prstGeom>
          <a:solidFill>
            <a:srgbClr val="F3F7F7"/>
          </a:solidFill>
          <a:ln w="10160">
            <a:solidFill>
              <a:srgbClr val="DD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changed, release :=&#10;    app.mode"/>
          <p:cNvSpPr txBox="1"/>
          <p:nvPr/>
        </p:nvSpPr>
        <p:spPr>
          <a:xfrm>
            <a:off x="722376" y="1947672"/>
            <a:ext cx="6739128" cy="3337560"/>
          </a:xfrm>
          <a:prstGeom prst="rect">
            <a:avLst/>
          </a:prstGeom>
          <a:noFill/>
        </p:spPr>
        <p:txBody>
          <a:bodyPr wrap="square" lIns="9144" rIns="9144" tIns="0" bIns="0" anchor="t">
            <a:spAutoFit/>
          </a:bodyPr>
          <a:lstStyle/>
          <a:p>
            <a:pPr>
              <a:lnSpc>
                <a:spcPts val="2375"/>
              </a:lnSpc>
              <a:spcBef>
                <a:spcPts val="0"/>
              </a:spcBef>
              <a:spcAft>
                <a:spcPts val="0"/>
              </a:spcAft>
            </a:pPr>
            <a:r>
              <a:rPr sz="1900" b="0">
                <a:solidFill>
                  <a:srgbClr val="304B53"/>
                </a:solidFill>
                <a:latin typeface="Liberation Mono"/>
              </a:rPr>
              <a:t>changed, release :=</a:t>
            </a:r>
          </a:p>
          <a:p>
            <a:pPr>
              <a:lnSpc>
                <a:spcPts val="2375"/>
              </a:lnSpc>
              <a:spcBef>
                <a:spcPts val="0"/>
              </a:spcBef>
              <a:spcAft>
                <a:spcPts val="0"/>
              </a:spcAft>
            </a:pPr>
            <a:r>
              <a:rPr sz="1900" b="1">
                <a:solidFill>
                  <a:srgbClr val="008C91"/>
                </a:solidFill>
                <a:latin typeface="Liberation Mono"/>
              </a:rPr>
              <a:t>    app.models.Jobs.Changes.Subscribe(id)</a:t>
            </a:r>
          </a:p>
          <a:p>
            <a:pPr>
              <a:lnSpc>
                <a:spcPts val="2375"/>
              </a:lnSpc>
              <a:spcBef>
                <a:spcPts val="0"/>
              </a:spcBef>
              <a:spcAft>
                <a:spcPts val="0"/>
              </a:spcAft>
            </a:pPr>
            <a:r>
              <a:rPr sz="1900" b="0">
                <a:solidFill>
                  <a:srgbClr val="304B53"/>
                </a:solidFill>
                <a:latin typeface="Liberation Mono"/>
              </a:rPr>
              <a:t>defer release()</a:t>
            </a:r>
          </a:p>
          <a:p>
            <a:pPr>
              <a:lnSpc>
                <a:spcPts val="2375"/>
              </a:lnSpc>
              <a:spcBef>
                <a:spcPts val="0"/>
              </a:spcBef>
              <a:spcAft>
                <a:spcPts val="0"/>
              </a:spcAft>
            </a:pPr>
            <a:r>
              <a:rPr sz="1900" b="0">
                <a:solidFill>
                  <a:srgbClr val="304B53"/>
                </a:solidFill>
                <a:latin typeface="Liberation Mono"/>
              </a:rPr>
              <a:t>returnAfter := time.NewTimer(wait)</a:t>
            </a:r>
          </a:p>
          <a:p>
            <a:pPr>
              <a:lnSpc>
                <a:spcPts val="2375"/>
              </a:lnSpc>
              <a:spcBef>
                <a:spcPts val="0"/>
              </a:spcBef>
              <a:spcAft>
                <a:spcPts val="0"/>
              </a:spcAft>
            </a:pPr>
            <a:r>
              <a:rPr sz="1900" b="0">
                <a:solidFill>
                  <a:srgbClr val="304B53"/>
                </a:solidFill>
                <a:latin typeface="Liberation Mono"/>
              </a:rPr>
              <a:t>defer returnAfter.Stop()</a:t>
            </a:r>
          </a:p>
          <a:p>
            <a:pPr>
              <a:lnSpc>
                <a:spcPts val="2375"/>
              </a:lnSpc>
              <a:spcBef>
                <a:spcPts val="0"/>
              </a:spcBef>
              <a:spcAft>
                <a:spcPts val="0"/>
              </a:spcAft>
            </a:pPr>
            <a:r>
              <a:rPr sz="1900" b="0">
                <a:solidFill>
                  <a:srgbClr val="304B53"/>
                </a:solidFill>
                <a:latin typeface="Liberation Mono"/>
              </a:rPr>
              <a:t>for {</a:t>
            </a:r>
          </a:p>
          <a:p>
            <a:pPr>
              <a:lnSpc>
                <a:spcPts val="2375"/>
              </a:lnSpc>
              <a:spcBef>
                <a:spcPts val="0"/>
              </a:spcBef>
              <a:spcAft>
                <a:spcPts val="0"/>
              </a:spcAft>
            </a:pPr>
            <a:r>
              <a:rPr sz="1900" b="1">
                <a:solidFill>
                  <a:srgbClr val="008C91"/>
                </a:solidFill>
                <a:latin typeface="Liberation Mono"/>
              </a:rPr>
              <a:t>    job, err := get()</a:t>
            </a:r>
          </a:p>
          <a:p>
            <a:pPr>
              <a:lnSpc>
                <a:spcPts val="2375"/>
              </a:lnSpc>
              <a:spcBef>
                <a:spcPts val="0"/>
              </a:spcBef>
              <a:spcAft>
                <a:spcPts val="0"/>
              </a:spcAft>
            </a:pPr>
            <a:r>
              <a:rPr sz="1900" b="0">
                <a:solidFill>
                  <a:srgbClr val="304B53"/>
                </a:solidFill>
                <a:latin typeface="Liberation Mono"/>
              </a:rPr>
              <a:t>    if !app.jobReadOK(w, r, err) {</a:t>
            </a:r>
          </a:p>
          <a:p>
            <a:pPr>
              <a:lnSpc>
                <a:spcPts val="2375"/>
              </a:lnSpc>
              <a:spcBef>
                <a:spcPts val="0"/>
              </a:spcBef>
              <a:spcAft>
                <a:spcPts val="0"/>
              </a:spcAft>
            </a:pPr>
            <a:r>
              <a:rPr sz="1900" b="0">
                <a:solidFill>
                  <a:srgbClr val="304B53"/>
                </a:solidFill>
                <a:latin typeface="Liberation Mono"/>
              </a:rPr>
              <a:t>        return</a:t>
            </a:r>
          </a:p>
          <a:p>
            <a:pPr>
              <a:lnSpc>
                <a:spcPts val="2375"/>
              </a:lnSpc>
              <a:spcBef>
                <a:spcPts val="0"/>
              </a:spcBef>
              <a:spcAft>
                <a:spcPts val="0"/>
              </a:spcAft>
            </a:pPr>
            <a:r>
              <a:rPr sz="1900" b="0">
                <a:solidFill>
                  <a:srgbClr val="304B53"/>
                </a:solidFill>
                <a:latin typeface="Liberation Mono"/>
              </a:rPr>
              <a:t>    }</a:t>
            </a:r>
          </a:p>
        </p:txBody>
      </p:sp>
      <p:sp>
        <p:nvSpPr>
          <p:cNvPr id="9" name="Text cmd/api/jobs.go · start of long-"/>
          <p:cNvSpPr txBox="1"/>
          <p:nvPr/>
        </p:nvSpPr>
        <p:spPr>
          <a:xfrm>
            <a:off x="548640" y="5486400"/>
            <a:ext cx="7086600" cy="246888"/>
          </a:xfrm>
          <a:prstGeom prst="rect">
            <a:avLst/>
          </a:prstGeom>
          <a:noFill/>
        </p:spPr>
        <p:txBody>
          <a:bodyPr wrap="square" lIns="9144" rIns="9144" tIns="0" bIns="0" anchor="t">
            <a:spAutoFit/>
          </a:bodyPr>
          <a:lstStyle/>
          <a:p>
            <a:pPr>
              <a:lnSpc>
                <a:spcPct val="108000"/>
              </a:lnSpc>
              <a:spcBef>
                <a:spcPts val="0"/>
              </a:spcBef>
              <a:spcAft>
                <a:spcPts val="0"/>
              </a:spcAft>
            </a:pPr>
            <a:r>
              <a:rPr sz="1300" b="0">
                <a:solidFill>
                  <a:srgbClr val="62757A"/>
                </a:solidFill>
                <a:latin typeface="Liberation Sans"/>
              </a:rPr>
              <a:t>cmd/api/jobs.go · start of long-poll branch (excerpt)</a:t>
            </a:r>
          </a:p>
        </p:txBody>
      </p:sp>
      <p:sp>
        <p:nvSpPr>
          <p:cNvPr id="10" name="Text Read now"/>
          <p:cNvSpPr txBox="1"/>
          <p:nvPr/>
        </p:nvSpPr>
        <p:spPr>
          <a:xfrm>
            <a:off x="7918704" y="1828800"/>
            <a:ext cx="3712463" cy="393192"/>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008C91"/>
                </a:solidFill>
                <a:latin typeface="Liberation Sans"/>
              </a:rPr>
              <a:t>Read now</a:t>
            </a:r>
          </a:p>
        </p:txBody>
      </p:sp>
      <p:sp>
        <p:nvSpPr>
          <p:cNvPr id="11" name="Text Newer or terminal → 200"/>
          <p:cNvSpPr txBox="1"/>
          <p:nvPr/>
        </p:nvSpPr>
        <p:spPr>
          <a:xfrm>
            <a:off x="7918704" y="2295144"/>
            <a:ext cx="3712463" cy="73152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Newer or terminal → 200</a:t>
            </a:r>
          </a:p>
        </p:txBody>
      </p:sp>
      <p:sp>
        <p:nvSpPr>
          <p:cNvPr id="12" name="Text Otherwise wait"/>
          <p:cNvSpPr txBox="1"/>
          <p:nvPr/>
        </p:nvSpPr>
        <p:spPr>
          <a:xfrm>
            <a:off x="7918704" y="2907792"/>
            <a:ext cx="3712463" cy="393192"/>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008C91"/>
                </a:solidFill>
                <a:latin typeface="Liberation Sans"/>
              </a:rPr>
              <a:t>Otherwise wait</a:t>
            </a:r>
          </a:p>
        </p:txBody>
      </p:sp>
      <p:sp>
        <p:nvSpPr>
          <p:cNvPr id="13" name="Text Notification → reread"/>
          <p:cNvSpPr txBox="1"/>
          <p:nvPr/>
        </p:nvSpPr>
        <p:spPr>
          <a:xfrm>
            <a:off x="7918704" y="3374136"/>
            <a:ext cx="3712463" cy="73152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Notification → reread</a:t>
            </a:r>
          </a:p>
        </p:txBody>
      </p:sp>
      <p:sp>
        <p:nvSpPr>
          <p:cNvPr id="14" name="Text Deadline"/>
          <p:cNvSpPr txBox="1"/>
          <p:nvPr/>
        </p:nvSpPr>
        <p:spPr>
          <a:xfrm>
            <a:off x="7918704" y="3986784"/>
            <a:ext cx="3712463" cy="393192"/>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008C91"/>
                </a:solidFill>
                <a:latin typeface="Liberation Sans"/>
              </a:rPr>
              <a:t>Deadline</a:t>
            </a:r>
          </a:p>
        </p:txBody>
      </p:sp>
      <p:sp>
        <p:nvSpPr>
          <p:cNvPr id="15" name="Text Reread; 204 if unchanged"/>
          <p:cNvSpPr txBox="1"/>
          <p:nvPr/>
        </p:nvSpPr>
        <p:spPr>
          <a:xfrm>
            <a:off x="7918704" y="4453128"/>
            <a:ext cx="3712463" cy="73152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Reread; 204 if unchanged</a:t>
            </a:r>
          </a:p>
        </p:txBody>
      </p:sp>
      <p:sp>
        <p:nvSpPr>
          <p:cNvPr id="16" name="Rounded Rectangle 15"/>
          <p:cNvSpPr/>
          <p:nvPr/>
        </p:nvSpPr>
        <p:spPr>
          <a:xfrm>
            <a:off x="548640" y="5815584"/>
            <a:ext cx="11091672" cy="438912"/>
          </a:xfrm>
          <a:prstGeom prst="roundRect">
            <a:avLst>
              <a:gd name="adj" fmla="val 12000"/>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Register first. Buffered signals"/>
          <p:cNvSpPr txBox="1"/>
          <p:nvPr/>
        </p:nvSpPr>
        <p:spPr>
          <a:xfrm>
            <a:off x="749808" y="5879592"/>
            <a:ext cx="10698480" cy="310896"/>
          </a:xfrm>
          <a:prstGeom prst="rect">
            <a:avLst/>
          </a:prstGeom>
          <a:noFill/>
        </p:spPr>
        <p:txBody>
          <a:bodyPr wrap="square" lIns="9144" rIns="9144" tIns="0" bIns="0" anchor="t">
            <a:spAutoFit/>
          </a:bodyPr>
          <a:lstStyle/>
          <a:p>
            <a:pPr>
              <a:lnSpc>
                <a:spcPct val="108000"/>
              </a:lnSpc>
              <a:spcBef>
                <a:spcPts val="0"/>
              </a:spcBef>
              <a:spcAft>
                <a:spcPts val="0"/>
              </a:spcAft>
            </a:pPr>
            <a:r>
              <a:rPr sz="2200" b="1">
                <a:solidFill>
                  <a:srgbClr val="008C91"/>
                </a:solidFill>
                <a:latin typeface="Liberation Sans"/>
              </a:rPr>
              <a:t>Register first. Buffered signals bridge the gap between checking and waiting.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The browser renews, stops and re"/>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The browser renews, stops and retries safely</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Browser lifecycle</a:t>
            </a:r>
          </a:p>
        </p:txBody>
      </p:sp>
      <p:sp>
        <p:nvSpPr>
          <p:cNvPr id="5" name="Text 06"/>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06</a:t>
            </a:r>
          </a:p>
        </p:txBody>
      </p:sp>
      <p:sp>
        <p:nvSpPr>
          <p:cNvPr id="6" name="Text First: prompt snapshot and basel"/>
          <p:cNvSpPr txBox="1"/>
          <p:nvPr/>
        </p:nvSpPr>
        <p:spPr>
          <a:xfrm>
            <a:off x="548640" y="1069848"/>
            <a:ext cx="11064240" cy="384048"/>
          </a:xfrm>
          <a:prstGeom prst="rect">
            <a:avLst/>
          </a:prstGeom>
          <a:noFill/>
        </p:spPr>
        <p:txBody>
          <a:bodyPr wrap="square" lIns="9144" rIns="9144" tIns="0" bIns="0" anchor="t">
            <a:spAutoFit/>
          </a:bodyPr>
          <a:lstStyle/>
          <a:p>
            <a:pPr>
              <a:lnSpc>
                <a:spcPct val="108000"/>
              </a:lnSpc>
              <a:spcBef>
                <a:spcPts val="0"/>
              </a:spcBef>
              <a:spcAft>
                <a:spcPts val="0"/>
              </a:spcAft>
            </a:pPr>
            <a:r>
              <a:rPr sz="2400" b="0">
                <a:solidFill>
                  <a:srgbClr val="304B53"/>
                </a:solidFill>
                <a:latin typeface="Liberation Sans"/>
              </a:rPr>
              <a:t>First: prompt snapshot and baseline. Then: one observation request at a time.</a:t>
            </a:r>
          </a:p>
        </p:txBody>
      </p:sp>
      <p:sp>
        <p:nvSpPr>
          <p:cNvPr id="7" name="Rounded Rectangle 6"/>
          <p:cNvSpPr/>
          <p:nvPr/>
        </p:nvSpPr>
        <p:spPr>
          <a:xfrm>
            <a:off x="548640" y="1810512"/>
            <a:ext cx="5431536" cy="2788920"/>
          </a:xfrm>
          <a:prstGeom prst="roundRect">
            <a:avLst>
              <a:gd name="adj" fmla="val 12000"/>
            </a:avLst>
          </a:prstGeom>
          <a:solidFill>
            <a:srgbClr val="F3F7F7"/>
          </a:solidFill>
          <a:ln w="10160">
            <a:solidFill>
              <a:srgbClr val="DD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if(response.status===204){&#10;  if("/>
          <p:cNvSpPr txBox="1"/>
          <p:nvPr/>
        </p:nvSpPr>
        <p:spPr>
          <a:xfrm>
            <a:off x="722376" y="1947672"/>
            <a:ext cx="5084064" cy="2523744"/>
          </a:xfrm>
          <a:prstGeom prst="rect">
            <a:avLst/>
          </a:prstGeom>
          <a:noFill/>
        </p:spPr>
        <p:txBody>
          <a:bodyPr wrap="square" lIns="9144" rIns="9144" tIns="0" bIns="0" anchor="t">
            <a:spAutoFit/>
          </a:bodyPr>
          <a:lstStyle/>
          <a:p>
            <a:pPr>
              <a:lnSpc>
                <a:spcPts val="2250"/>
              </a:lnSpc>
              <a:spcBef>
                <a:spcPts val="0"/>
              </a:spcBef>
              <a:spcAft>
                <a:spcPts val="0"/>
              </a:spcAft>
            </a:pPr>
            <a:r>
              <a:rPr sz="1800" b="0">
                <a:solidFill>
                  <a:srgbClr val="304B53"/>
                </a:solidFill>
                <a:latin typeface="Liberation Mono"/>
              </a:rPr>
              <a:t>if(response.status===204){</a:t>
            </a:r>
          </a:p>
          <a:p>
            <a:pPr>
              <a:lnSpc>
                <a:spcPts val="2250"/>
              </a:lnSpc>
              <a:spcBef>
                <a:spcPts val="0"/>
              </a:spcBef>
              <a:spcAft>
                <a:spcPts val="0"/>
              </a:spcAft>
            </a:pPr>
            <a:r>
              <a:rPr sz="1800" b="0">
                <a:solidFill>
                  <a:srgbClr val="304B53"/>
                </a:solidFill>
                <a:latin typeface="Liberation Mono"/>
              </a:rPr>
              <a:t>  if(!isLong)</a:t>
            </a:r>
          </a:p>
          <a:p>
            <a:pPr>
              <a:lnSpc>
                <a:spcPts val="2250"/>
              </a:lnSpc>
              <a:spcBef>
                <a:spcPts val="0"/>
              </a:spcBef>
              <a:spcAft>
                <a:spcPts val="0"/>
              </a:spcAft>
            </a:pPr>
            <a:r>
              <a:rPr sz="1800" b="0">
                <a:solidFill>
                  <a:srgbClr val="304B53"/>
                </a:solidFill>
                <a:latin typeface="Liberation Mono"/>
              </a:rPr>
              <a:t>    throw new Error(</a:t>
            </a:r>
          </a:p>
          <a:p>
            <a:pPr>
              <a:lnSpc>
                <a:spcPts val="2250"/>
              </a:lnSpc>
              <a:spcBef>
                <a:spcPts val="0"/>
              </a:spcBef>
              <a:spcAft>
                <a:spcPts val="0"/>
              </a:spcAft>
            </a:pPr>
            <a:r>
              <a:rPr sz="1800" b="0">
                <a:solidFill>
                  <a:srgbClr val="304B53"/>
                </a:solidFill>
                <a:latin typeface="Liberation Mono"/>
              </a:rPr>
              <a:t>  'Unexpected no-content snapshot');</a:t>
            </a:r>
          </a:p>
          <a:p>
            <a:pPr>
              <a:lnSpc>
                <a:spcPts val="2250"/>
              </a:lnSpc>
              <a:spcBef>
                <a:spcPts val="0"/>
              </a:spcBef>
              <a:spcAft>
                <a:spcPts val="0"/>
              </a:spcAft>
            </a:pPr>
            <a:r>
              <a:rPr sz="1800" b="1">
                <a:solidFill>
                  <a:srgbClr val="008C91"/>
                </a:solidFill>
                <a:latin typeface="Liberation Mono"/>
              </a:rPr>
              <a:t>  entry.outcome='no_change_204';</a:t>
            </a:r>
          </a:p>
          <a:p>
            <a:pPr>
              <a:lnSpc>
                <a:spcPts val="2250"/>
              </a:lnSpc>
              <a:spcBef>
                <a:spcPts val="0"/>
              </a:spcBef>
              <a:spcAft>
                <a:spcPts val="0"/>
              </a:spcAft>
            </a:pPr>
            <a:r>
              <a:rPr sz="1800" b="1">
                <a:solidFill>
                  <a:srgbClr val="008C91"/>
                </a:solidFill>
                <a:latin typeface="Liberation Mono"/>
              </a:rPr>
              <a:t>  schedule();</a:t>
            </a:r>
          </a:p>
          <a:p>
            <a:pPr>
              <a:lnSpc>
                <a:spcPts val="2250"/>
              </a:lnSpc>
              <a:spcBef>
                <a:spcPts val="0"/>
              </a:spcBef>
              <a:spcAft>
                <a:spcPts val="0"/>
              </a:spcAft>
            </a:pPr>
            <a:r>
              <a:rPr sz="1800" b="0">
                <a:solidFill>
                  <a:srgbClr val="304B53"/>
                </a:solidFill>
                <a:latin typeface="Liberation Mono"/>
              </a:rPr>
              <a:t>  return;</a:t>
            </a:r>
          </a:p>
          <a:p>
            <a:pPr>
              <a:lnSpc>
                <a:spcPts val="2250"/>
              </a:lnSpc>
              <a:spcBef>
                <a:spcPts val="0"/>
              </a:spcBef>
              <a:spcAft>
                <a:spcPts val="0"/>
              </a:spcAft>
            </a:pPr>
            <a:r>
              <a:rPr sz="1800" b="0">
                <a:solidFill>
                  <a:srgbClr val="304B53"/>
                </a:solidFill>
                <a:latin typeface="Liberation Mono"/>
              </a:rPr>
              <a:t>}</a:t>
            </a:r>
          </a:p>
        </p:txBody>
      </p:sp>
      <p:sp>
        <p:nvSpPr>
          <p:cNvPr id="9" name="Text web/assets/app.js · pollJob() / "/>
          <p:cNvSpPr txBox="1"/>
          <p:nvPr/>
        </p:nvSpPr>
        <p:spPr>
          <a:xfrm>
            <a:off x="548640" y="4672583"/>
            <a:ext cx="5431536" cy="246888"/>
          </a:xfrm>
          <a:prstGeom prst="rect">
            <a:avLst/>
          </a:prstGeom>
          <a:noFill/>
        </p:spPr>
        <p:txBody>
          <a:bodyPr wrap="square" lIns="9144" rIns="9144" tIns="0" bIns="0" anchor="t">
            <a:spAutoFit/>
          </a:bodyPr>
          <a:lstStyle/>
          <a:p>
            <a:pPr>
              <a:lnSpc>
                <a:spcPct val="108000"/>
              </a:lnSpc>
              <a:spcBef>
                <a:spcPts val="0"/>
              </a:spcBef>
              <a:spcAft>
                <a:spcPts val="0"/>
              </a:spcAft>
            </a:pPr>
            <a:r>
              <a:rPr sz="1300" b="0">
                <a:solidFill>
                  <a:srgbClr val="62757A"/>
                </a:solidFill>
                <a:latin typeface="Liberation Sans"/>
              </a:rPr>
              <a:t>web/assets/app.js · pollJob() / 204 branch</a:t>
            </a:r>
          </a:p>
        </p:txBody>
      </p:sp>
      <p:sp>
        <p:nvSpPr>
          <p:cNvPr id="10" name="Rounded Rectangle 9"/>
          <p:cNvSpPr/>
          <p:nvPr/>
        </p:nvSpPr>
        <p:spPr>
          <a:xfrm>
            <a:off x="6208776" y="1810512"/>
            <a:ext cx="5431536" cy="2788920"/>
          </a:xfrm>
          <a:prstGeom prst="roundRect">
            <a:avLst>
              <a:gd name="adj" fmla="val 12000"/>
            </a:avLst>
          </a:prstGeom>
          <a:solidFill>
            <a:srgbClr val="F3F7F7"/>
          </a:solidFill>
          <a:ln w="10160">
            <a:solidFill>
              <a:srgbClr val="DD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if(job.status==='completed'||&#10;  "/>
          <p:cNvSpPr txBox="1"/>
          <p:nvPr/>
        </p:nvSpPr>
        <p:spPr>
          <a:xfrm>
            <a:off x="6382512" y="1947672"/>
            <a:ext cx="5084064" cy="2523744"/>
          </a:xfrm>
          <a:prstGeom prst="rect">
            <a:avLst/>
          </a:prstGeom>
          <a:noFill/>
        </p:spPr>
        <p:txBody>
          <a:bodyPr wrap="square" lIns="9144" rIns="9144" tIns="0" bIns="0" anchor="t">
            <a:spAutoFit/>
          </a:bodyPr>
          <a:lstStyle/>
          <a:p>
            <a:pPr>
              <a:lnSpc>
                <a:spcPts val="2250"/>
              </a:lnSpc>
              <a:spcBef>
                <a:spcPts val="0"/>
              </a:spcBef>
              <a:spcAft>
                <a:spcPts val="0"/>
              </a:spcAft>
            </a:pPr>
            <a:r>
              <a:rPr sz="1800" b="0">
                <a:solidFill>
                  <a:srgbClr val="304B53"/>
                </a:solidFill>
                <a:latin typeface="Liberation Mono"/>
              </a:rPr>
              <a:t>if(job.status==='completed'||</a:t>
            </a:r>
          </a:p>
          <a:p>
            <a:pPr>
              <a:lnSpc>
                <a:spcPts val="2250"/>
              </a:lnSpc>
              <a:spcBef>
                <a:spcPts val="0"/>
              </a:spcBef>
              <a:spcAft>
                <a:spcPts val="0"/>
              </a:spcAft>
            </a:pPr>
            <a:r>
              <a:rPr sz="1800" b="0">
                <a:solidFill>
                  <a:srgbClr val="304B53"/>
                </a:solidFill>
                <a:latin typeface="Liberation Mono"/>
              </a:rPr>
              <a:t>   job.status==='failed'){</a:t>
            </a:r>
          </a:p>
          <a:p>
            <a:pPr>
              <a:lnSpc>
                <a:spcPts val="2250"/>
              </a:lnSpc>
              <a:spcBef>
                <a:spcPts val="0"/>
              </a:spcBef>
              <a:spcAft>
                <a:spcPts val="0"/>
              </a:spcAft>
            </a:pPr>
            <a:r>
              <a:rPr sz="1800" b="1">
                <a:solidFill>
                  <a:srgbClr val="008C91"/>
                </a:solidFill>
                <a:latin typeface="Liberation Mono"/>
              </a:rPr>
              <a:t>  stopObservation();</a:t>
            </a:r>
          </a:p>
          <a:p>
            <a:pPr>
              <a:lnSpc>
                <a:spcPts val="2250"/>
              </a:lnSpc>
              <a:spcBef>
                <a:spcPts val="0"/>
              </a:spcBef>
              <a:spcAft>
                <a:spcPts val="0"/>
              </a:spcAft>
            </a:pPr>
            <a:r>
              <a:rPr sz="1800" b="0">
                <a:solidFill>
                  <a:srgbClr val="304B53"/>
                </a:solidFill>
                <a:latin typeface="Liberation Mono"/>
              </a:rPr>
              <a:t>  pollingIndicator.textContent=</a:t>
            </a:r>
          </a:p>
          <a:p>
            <a:pPr>
              <a:lnSpc>
                <a:spcPts val="2250"/>
              </a:lnSpc>
              <a:spcBef>
                <a:spcPts val="0"/>
              </a:spcBef>
              <a:spcAft>
                <a:spcPts val="0"/>
              </a:spcAft>
            </a:pPr>
            <a:r>
              <a:rPr sz="1800" b="0">
                <a:solidFill>
                  <a:srgbClr val="304B53"/>
                </a:solidFill>
                <a:latin typeface="Liberation Mono"/>
              </a:rPr>
              <a:t>    'Status checking stopped';</a:t>
            </a:r>
          </a:p>
          <a:p>
            <a:pPr>
              <a:lnSpc>
                <a:spcPts val="2250"/>
              </a:lnSpc>
              <a:spcBef>
                <a:spcPts val="0"/>
              </a:spcBef>
              <a:spcAft>
                <a:spcPts val="0"/>
              </a:spcAft>
            </a:pPr>
            <a:r>
              <a:rPr sz="1800" b="0">
                <a:solidFill>
                  <a:srgbClr val="304B53"/>
                </a:solidFill>
                <a:latin typeface="Liberation Mono"/>
              </a:rPr>
              <a:t>}else{</a:t>
            </a:r>
          </a:p>
          <a:p>
            <a:pPr>
              <a:lnSpc>
                <a:spcPts val="2250"/>
              </a:lnSpc>
              <a:spcBef>
                <a:spcPts val="0"/>
              </a:spcBef>
              <a:spcAft>
                <a:spcPts val="0"/>
              </a:spcAft>
            </a:pPr>
            <a:r>
              <a:rPr sz="1800" b="1">
                <a:solidFill>
                  <a:srgbClr val="008C91"/>
                </a:solidFill>
                <a:latin typeface="Liberation Mono"/>
              </a:rPr>
              <a:t>  schedule();</a:t>
            </a:r>
          </a:p>
          <a:p>
            <a:pPr>
              <a:lnSpc>
                <a:spcPts val="2250"/>
              </a:lnSpc>
              <a:spcBef>
                <a:spcPts val="0"/>
              </a:spcBef>
              <a:spcAft>
                <a:spcPts val="0"/>
              </a:spcAft>
            </a:pPr>
            <a:r>
              <a:rPr sz="1800" b="0">
                <a:solidFill>
                  <a:srgbClr val="304B53"/>
                </a:solidFill>
                <a:latin typeface="Liberation Mono"/>
              </a:rPr>
              <a:t>}</a:t>
            </a:r>
          </a:p>
        </p:txBody>
      </p:sp>
      <p:sp>
        <p:nvSpPr>
          <p:cNvPr id="12" name="Text web/assets/app.js · pollJob() / "/>
          <p:cNvSpPr txBox="1"/>
          <p:nvPr/>
        </p:nvSpPr>
        <p:spPr>
          <a:xfrm>
            <a:off x="6208776" y="4672583"/>
            <a:ext cx="5431536" cy="246888"/>
          </a:xfrm>
          <a:prstGeom prst="rect">
            <a:avLst/>
          </a:prstGeom>
          <a:noFill/>
        </p:spPr>
        <p:txBody>
          <a:bodyPr wrap="square" lIns="9144" rIns="9144" tIns="0" bIns="0" anchor="t">
            <a:spAutoFit/>
          </a:bodyPr>
          <a:lstStyle/>
          <a:p>
            <a:pPr>
              <a:lnSpc>
                <a:spcPct val="108000"/>
              </a:lnSpc>
              <a:spcBef>
                <a:spcPts val="0"/>
              </a:spcBef>
              <a:spcAft>
                <a:spcPts val="0"/>
              </a:spcAft>
            </a:pPr>
            <a:r>
              <a:rPr sz="1300" b="0">
                <a:solidFill>
                  <a:srgbClr val="62757A"/>
                </a:solidFill>
                <a:latin typeface="Liberation Sans"/>
              </a:rPr>
              <a:t>web/assets/app.js · pollJob() / terminal branch</a:t>
            </a:r>
          </a:p>
        </p:txBody>
      </p:sp>
      <p:sp>
        <p:nvSpPr>
          <p:cNvPr id="13" name="Text Active 200: render, save version"/>
          <p:cNvSpPr txBox="1"/>
          <p:nvPr/>
        </p:nvSpPr>
        <p:spPr>
          <a:xfrm>
            <a:off x="749808" y="5038344"/>
            <a:ext cx="5138928" cy="859536"/>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Active 200: render, save version,</a:t>
            </a:r>
          </a:p>
          <a:p>
            <a:pPr>
              <a:lnSpc>
                <a:spcPct val="108000"/>
              </a:lnSpc>
              <a:spcBef>
                <a:spcPts val="0"/>
              </a:spcBef>
              <a:spcAft>
                <a:spcPts val="0"/>
              </a:spcAft>
            </a:pPr>
            <a:r>
              <a:rPr sz="2300" b="0">
                <a:solidFill>
                  <a:srgbClr val="304B53"/>
                </a:solidFill>
                <a:latin typeface="Liberation Sans"/>
              </a:rPr>
              <a:t>then immediately long poll again.</a:t>
            </a:r>
          </a:p>
        </p:txBody>
      </p:sp>
      <p:sp>
        <p:nvSpPr>
          <p:cNvPr id="14" name="Text Cancel old session; ignore late "/>
          <p:cNvSpPr txBox="1"/>
          <p:nvPr/>
        </p:nvSpPr>
        <p:spPr>
          <a:xfrm>
            <a:off x="6409944" y="5038344"/>
            <a:ext cx="5074920" cy="859536"/>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Cancel old session; ignore late replies.</a:t>
            </a:r>
          </a:p>
          <a:p>
            <a:pPr>
              <a:lnSpc>
                <a:spcPct val="108000"/>
              </a:lnSpc>
              <a:spcBef>
                <a:spcPts val="0"/>
              </a:spcBef>
              <a:spcAft>
                <a:spcPts val="0"/>
              </a:spcAft>
            </a:pPr>
            <a:r>
              <a:rPr sz="2300" b="0">
                <a:solidFill>
                  <a:srgbClr val="304B53"/>
                </a:solidFill>
                <a:latin typeface="Liberation Sans"/>
              </a:rPr>
              <a:t>Try again observes the same job.</a:t>
            </a:r>
          </a:p>
        </p:txBody>
      </p:sp>
      <p:sp>
        <p:nvSpPr>
          <p:cNvPr id="15" name="Text Stopping observation does not st"/>
          <p:cNvSpPr txBox="1"/>
          <p:nvPr/>
        </p:nvSpPr>
        <p:spPr>
          <a:xfrm>
            <a:off x="749808" y="6016752"/>
            <a:ext cx="10789920" cy="384048"/>
          </a:xfrm>
          <a:prstGeom prst="rect">
            <a:avLst/>
          </a:prstGeom>
          <a:noFill/>
        </p:spPr>
        <p:txBody>
          <a:bodyPr wrap="square" lIns="9144" rIns="9144" tIns="0" bIns="0" anchor="t">
            <a:spAutoFit/>
          </a:bodyPr>
          <a:lstStyle/>
          <a:p>
            <a:pPr>
              <a:lnSpc>
                <a:spcPct val="108000"/>
              </a:lnSpc>
              <a:spcBef>
                <a:spcPts val="0"/>
              </a:spcBef>
              <a:spcAft>
                <a:spcPts val="0"/>
              </a:spcAft>
            </a:pPr>
            <a:r>
              <a:rPr sz="2400" b="1">
                <a:solidFill>
                  <a:srgbClr val="008C91"/>
                </a:solidFill>
                <a:latin typeface="Liberation Sans"/>
              </a:rPr>
              <a:t>Stopping observation does not stop the worker.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Predictions first. Then 30 contr"/>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Predictions first. Then 30 controlled runs.</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Experimental method</a:t>
            </a:r>
          </a:p>
        </p:txBody>
      </p:sp>
      <p:sp>
        <p:nvSpPr>
          <p:cNvPr id="5" name="Text 07"/>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07</a:t>
            </a:r>
          </a:p>
        </p:txBody>
      </p:sp>
      <p:sp>
        <p:nvSpPr>
          <p:cNvPr id="6" name="Text 5 conditions × 2 modes × 3 repet"/>
          <p:cNvSpPr txBox="1"/>
          <p:nvPr/>
        </p:nvSpPr>
        <p:spPr>
          <a:xfrm>
            <a:off x="548640" y="1051560"/>
            <a:ext cx="11064240" cy="411480"/>
          </a:xfrm>
          <a:prstGeom prst="rect">
            <a:avLst/>
          </a:prstGeom>
          <a:noFill/>
        </p:spPr>
        <p:txBody>
          <a:bodyPr wrap="square" lIns="9144" rIns="9144" tIns="0" bIns="0" anchor="t">
            <a:spAutoFit/>
          </a:bodyPr>
          <a:lstStyle/>
          <a:p>
            <a:pPr>
              <a:lnSpc>
                <a:spcPct val="108000"/>
              </a:lnSpc>
              <a:spcBef>
                <a:spcPts val="0"/>
              </a:spcBef>
              <a:spcAft>
                <a:spcPts val="0"/>
              </a:spcAft>
            </a:pPr>
            <a:r>
              <a:rPr sz="2600" b="1">
                <a:solidFill>
                  <a:srgbClr val="008C91"/>
                </a:solidFill>
                <a:latin typeface="Liberation Sans"/>
              </a:rPr>
              <a:t>5 conditions × 2 modes × 3 repetitions</a:t>
            </a:r>
          </a:p>
        </p:txBody>
      </p:sp>
      <p:sp>
        <p:nvSpPr>
          <p:cNvPr id="7" name="Rectangle 6"/>
          <p:cNvSpPr/>
          <p:nvPr/>
        </p:nvSpPr>
        <p:spPr>
          <a:xfrm>
            <a:off x="548640" y="1755648"/>
            <a:ext cx="576072" cy="438912"/>
          </a:xfrm>
          <a:prstGeom prst="rect">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
          <p:cNvSpPr txBox="1"/>
          <p:nvPr/>
        </p:nvSpPr>
        <p:spPr>
          <a:xfrm>
            <a:off x="658368" y="1828800"/>
            <a:ext cx="393192" cy="320040"/>
          </a:xfrm>
          <a:prstGeom prst="rect">
            <a:avLst/>
          </a:prstGeom>
          <a:noFill/>
        </p:spPr>
        <p:txBody>
          <a:bodyPr wrap="square" lIns="9144" rIns="9144" tIns="0" bIns="0" anchor="t">
            <a:spAutoFit/>
          </a:bodyPr>
          <a:lstStyle/>
          <a:p>
            <a:pPr>
              <a:lnSpc>
                <a:spcPct val="108000"/>
              </a:lnSpc>
              <a:spcBef>
                <a:spcPts val="0"/>
              </a:spcBef>
              <a:spcAft>
                <a:spcPts val="0"/>
              </a:spcAft>
            </a:pPr>
          </a:p>
        </p:txBody>
      </p:sp>
      <p:sp>
        <p:nvSpPr>
          <p:cNvPr id="9" name="Rectangle 8"/>
          <p:cNvSpPr/>
          <p:nvPr/>
        </p:nvSpPr>
        <p:spPr>
          <a:xfrm>
            <a:off x="1124712" y="1755648"/>
            <a:ext cx="4133087" cy="438912"/>
          </a:xfrm>
          <a:prstGeom prst="rect">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Condition"/>
          <p:cNvSpPr txBox="1"/>
          <p:nvPr/>
        </p:nvSpPr>
        <p:spPr>
          <a:xfrm>
            <a:off x="1234440" y="1828800"/>
            <a:ext cx="3950207" cy="320040"/>
          </a:xfrm>
          <a:prstGeom prst="rect">
            <a:avLst/>
          </a:prstGeom>
          <a:noFill/>
        </p:spPr>
        <p:txBody>
          <a:bodyPr wrap="square" lIns="9144" rIns="9144" tIns="0" bIns="0" anchor="t">
            <a:spAutoFit/>
          </a:bodyPr>
          <a:lstStyle/>
          <a:p>
            <a:pPr>
              <a:lnSpc>
                <a:spcPct val="108000"/>
              </a:lnSpc>
              <a:spcBef>
                <a:spcPts val="0"/>
              </a:spcBef>
              <a:spcAft>
                <a:spcPts val="0"/>
              </a:spcAft>
            </a:pPr>
            <a:r>
              <a:rPr sz="2000" b="1">
                <a:solidFill>
                  <a:srgbClr val="008C91"/>
                </a:solidFill>
                <a:latin typeface="Liberation Sans"/>
              </a:rPr>
              <a:t>Condition</a:t>
            </a:r>
          </a:p>
        </p:txBody>
      </p:sp>
      <p:sp>
        <p:nvSpPr>
          <p:cNvPr id="11" name="Rectangle 10"/>
          <p:cNvSpPr/>
          <p:nvPr/>
        </p:nvSpPr>
        <p:spPr>
          <a:xfrm>
            <a:off x="5257800" y="1755648"/>
            <a:ext cx="6382512" cy="438912"/>
          </a:xfrm>
          <a:prstGeom prst="rect">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My request-count prediction"/>
          <p:cNvSpPr txBox="1"/>
          <p:nvPr/>
        </p:nvSpPr>
        <p:spPr>
          <a:xfrm>
            <a:off x="5367528" y="1828800"/>
            <a:ext cx="6199632" cy="320040"/>
          </a:xfrm>
          <a:prstGeom prst="rect">
            <a:avLst/>
          </a:prstGeom>
          <a:noFill/>
        </p:spPr>
        <p:txBody>
          <a:bodyPr wrap="square" lIns="9144" rIns="9144" tIns="0" bIns="0" anchor="t">
            <a:spAutoFit/>
          </a:bodyPr>
          <a:lstStyle/>
          <a:p>
            <a:pPr>
              <a:lnSpc>
                <a:spcPct val="108000"/>
              </a:lnSpc>
              <a:spcBef>
                <a:spcPts val="0"/>
              </a:spcBef>
              <a:spcAft>
                <a:spcPts val="0"/>
              </a:spcAft>
            </a:pPr>
            <a:r>
              <a:rPr sz="2000" b="1">
                <a:solidFill>
                  <a:srgbClr val="008C91"/>
                </a:solidFill>
                <a:latin typeface="Liberation Sans"/>
              </a:rPr>
              <a:t>My request-count prediction</a:t>
            </a:r>
          </a:p>
        </p:txBody>
      </p:sp>
      <p:sp>
        <p:nvSpPr>
          <p:cNvPr id="13" name="Rectangle 12"/>
          <p:cNvSpPr/>
          <p:nvPr/>
        </p:nvSpPr>
        <p:spPr>
          <a:xfrm>
            <a:off x="548640" y="2194560"/>
            <a:ext cx="576072" cy="612648"/>
          </a:xfrm>
          <a:prstGeom prst="rect">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4712" y="2194560"/>
            <a:ext cx="4133087" cy="612648"/>
          </a:xfrm>
          <a:prstGeom prst="rect">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257800" y="2194560"/>
            <a:ext cx="6382512" cy="612648"/>
          </a:xfrm>
          <a:prstGeom prst="rect">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A"/>
          <p:cNvSpPr txBox="1"/>
          <p:nvPr/>
        </p:nvSpPr>
        <p:spPr>
          <a:xfrm>
            <a:off x="640080" y="2313432"/>
            <a:ext cx="438912" cy="475488"/>
          </a:xfrm>
          <a:prstGeom prst="rect">
            <a:avLst/>
          </a:prstGeom>
          <a:noFill/>
        </p:spPr>
        <p:txBody>
          <a:bodyPr wrap="square" lIns="9144" rIns="9144" tIns="0" bIns="0" anchor="t">
            <a:spAutoFit/>
          </a:bodyPr>
          <a:lstStyle/>
          <a:p>
            <a:pPr>
              <a:lnSpc>
                <a:spcPct val="108000"/>
              </a:lnSpc>
              <a:spcBef>
                <a:spcPts val="0"/>
              </a:spcBef>
              <a:spcAft>
                <a:spcPts val="0"/>
              </a:spcAft>
            </a:pPr>
            <a:r>
              <a:rPr sz="2200" b="1">
                <a:solidFill>
                  <a:srgbClr val="008C91"/>
                </a:solidFill>
                <a:latin typeface="Liberation Sans"/>
              </a:rPr>
              <a:t>A</a:t>
            </a:r>
          </a:p>
        </p:txBody>
      </p:sp>
      <p:sp>
        <p:nvSpPr>
          <p:cNvPr id="17" name="Text 30 s quiet delay + real work"/>
          <p:cNvSpPr txBox="1"/>
          <p:nvPr/>
        </p:nvSpPr>
        <p:spPr>
          <a:xfrm>
            <a:off x="1234440" y="2313432"/>
            <a:ext cx="3922775" cy="475488"/>
          </a:xfrm>
          <a:prstGeom prst="rect">
            <a:avLst/>
          </a:prstGeom>
          <a:noFill/>
        </p:spPr>
        <p:txBody>
          <a:bodyPr wrap="square" lIns="9144" rIns="9144" tIns="0" bIns="0" anchor="t">
            <a:spAutoFit/>
          </a:bodyPr>
          <a:lstStyle/>
          <a:p>
            <a:pPr>
              <a:lnSpc>
                <a:spcPct val="108000"/>
              </a:lnSpc>
              <a:spcBef>
                <a:spcPts val="0"/>
              </a:spcBef>
              <a:spcAft>
                <a:spcPts val="0"/>
              </a:spcAft>
            </a:pPr>
            <a:r>
              <a:rPr sz="2200" b="0">
                <a:solidFill>
                  <a:srgbClr val="304B53"/>
                </a:solidFill>
                <a:latin typeface="Liberation Sans"/>
              </a:rPr>
              <a:t>30 s quiet delay + real work</a:t>
            </a:r>
          </a:p>
        </p:txBody>
      </p:sp>
      <p:sp>
        <p:nvSpPr>
          <p:cNvPr id="18" name="Text Long fewer: avoid repeated check"/>
          <p:cNvSpPr txBox="1"/>
          <p:nvPr/>
        </p:nvSpPr>
        <p:spPr>
          <a:xfrm>
            <a:off x="5367528" y="2313432"/>
            <a:ext cx="6163056" cy="475488"/>
          </a:xfrm>
          <a:prstGeom prst="rect">
            <a:avLst/>
          </a:prstGeom>
          <a:noFill/>
        </p:spPr>
        <p:txBody>
          <a:bodyPr wrap="square" lIns="9144" rIns="9144" tIns="0" bIns="0" anchor="t">
            <a:spAutoFit/>
          </a:bodyPr>
          <a:lstStyle/>
          <a:p>
            <a:pPr>
              <a:lnSpc>
                <a:spcPct val="108000"/>
              </a:lnSpc>
              <a:spcBef>
                <a:spcPts val="0"/>
              </a:spcBef>
              <a:spcAft>
                <a:spcPts val="0"/>
              </a:spcAft>
            </a:pPr>
            <a:r>
              <a:rPr sz="2200" b="0">
                <a:solidFill>
                  <a:srgbClr val="304B53"/>
                </a:solidFill>
                <a:latin typeface="Liberation Sans"/>
              </a:rPr>
              <a:t>Long fewer: avoid repeated checking.</a:t>
            </a:r>
          </a:p>
        </p:txBody>
      </p:sp>
      <p:sp>
        <p:nvSpPr>
          <p:cNvPr id="19" name="Rectangle 18"/>
          <p:cNvSpPr/>
          <p:nvPr/>
        </p:nvSpPr>
        <p:spPr>
          <a:xfrm>
            <a:off x="548640" y="2807208"/>
            <a:ext cx="576072" cy="6126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24712" y="2807208"/>
            <a:ext cx="4133087" cy="6126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257800" y="2807208"/>
            <a:ext cx="6382512" cy="6126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B"/>
          <p:cNvSpPr txBox="1"/>
          <p:nvPr/>
        </p:nvSpPr>
        <p:spPr>
          <a:xfrm>
            <a:off x="640080" y="2926079"/>
            <a:ext cx="438912" cy="475488"/>
          </a:xfrm>
          <a:prstGeom prst="rect">
            <a:avLst/>
          </a:prstGeom>
          <a:noFill/>
        </p:spPr>
        <p:txBody>
          <a:bodyPr wrap="square" lIns="9144" rIns="9144" tIns="0" bIns="0" anchor="t">
            <a:spAutoFit/>
          </a:bodyPr>
          <a:lstStyle/>
          <a:p>
            <a:pPr>
              <a:lnSpc>
                <a:spcPct val="108000"/>
              </a:lnSpc>
              <a:spcBef>
                <a:spcPts val="0"/>
              </a:spcBef>
              <a:spcAft>
                <a:spcPts val="0"/>
              </a:spcAft>
            </a:pPr>
            <a:r>
              <a:rPr sz="2200" b="1">
                <a:solidFill>
                  <a:srgbClr val="008C91"/>
                </a:solidFill>
                <a:latin typeface="Liberation Sans"/>
              </a:rPr>
              <a:t>B</a:t>
            </a:r>
          </a:p>
        </p:txBody>
      </p:sp>
      <p:sp>
        <p:nvSpPr>
          <p:cNvPr id="23" name="Text Real transformations only"/>
          <p:cNvSpPr txBox="1"/>
          <p:nvPr/>
        </p:nvSpPr>
        <p:spPr>
          <a:xfrm>
            <a:off x="1234440" y="2926079"/>
            <a:ext cx="3922775" cy="475488"/>
          </a:xfrm>
          <a:prstGeom prst="rect">
            <a:avLst/>
          </a:prstGeom>
          <a:noFill/>
        </p:spPr>
        <p:txBody>
          <a:bodyPr wrap="square" lIns="9144" rIns="9144" tIns="0" bIns="0" anchor="t">
            <a:spAutoFit/>
          </a:bodyPr>
          <a:lstStyle/>
          <a:p>
            <a:pPr>
              <a:lnSpc>
                <a:spcPct val="108000"/>
              </a:lnSpc>
              <a:spcBef>
                <a:spcPts val="0"/>
              </a:spcBef>
              <a:spcAft>
                <a:spcPts val="0"/>
              </a:spcAft>
            </a:pPr>
            <a:r>
              <a:rPr sz="2200" b="0">
                <a:solidFill>
                  <a:srgbClr val="304B53"/>
                </a:solidFill>
                <a:latin typeface="Liberation Sans"/>
              </a:rPr>
              <a:t>Real transformations only</a:t>
            </a:r>
          </a:p>
        </p:txBody>
      </p:sp>
      <p:sp>
        <p:nvSpPr>
          <p:cNvPr id="24" name="Text Short fewer: stop when complete."/>
          <p:cNvSpPr txBox="1"/>
          <p:nvPr/>
        </p:nvSpPr>
        <p:spPr>
          <a:xfrm>
            <a:off x="5367528" y="2926079"/>
            <a:ext cx="6163056" cy="475488"/>
          </a:xfrm>
          <a:prstGeom prst="rect">
            <a:avLst/>
          </a:prstGeom>
          <a:noFill/>
        </p:spPr>
        <p:txBody>
          <a:bodyPr wrap="square" lIns="9144" rIns="9144" tIns="0" bIns="0" anchor="t">
            <a:spAutoFit/>
          </a:bodyPr>
          <a:lstStyle/>
          <a:p>
            <a:pPr>
              <a:lnSpc>
                <a:spcPct val="108000"/>
              </a:lnSpc>
              <a:spcBef>
                <a:spcPts val="0"/>
              </a:spcBef>
              <a:spcAft>
                <a:spcPts val="0"/>
              </a:spcAft>
            </a:pPr>
            <a:r>
              <a:rPr sz="2200" b="0">
                <a:solidFill>
                  <a:srgbClr val="304B53"/>
                </a:solidFill>
                <a:latin typeface="Liberation Sans"/>
              </a:rPr>
              <a:t>Short fewer: stop when complete.</a:t>
            </a:r>
          </a:p>
        </p:txBody>
      </p:sp>
      <p:sp>
        <p:nvSpPr>
          <p:cNvPr id="25" name="Rectangle 24"/>
          <p:cNvSpPr/>
          <p:nvPr/>
        </p:nvSpPr>
        <p:spPr>
          <a:xfrm>
            <a:off x="548640" y="3419856"/>
            <a:ext cx="576072" cy="612648"/>
          </a:xfrm>
          <a:prstGeom prst="rect">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124712" y="3419856"/>
            <a:ext cx="4133087" cy="612648"/>
          </a:xfrm>
          <a:prstGeom prst="rect">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57800" y="3419856"/>
            <a:ext cx="6382512" cy="612648"/>
          </a:xfrm>
          <a:prstGeom prst="rect">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C1"/>
          <p:cNvSpPr txBox="1"/>
          <p:nvPr/>
        </p:nvSpPr>
        <p:spPr>
          <a:xfrm>
            <a:off x="640080" y="3538727"/>
            <a:ext cx="438912" cy="475488"/>
          </a:xfrm>
          <a:prstGeom prst="rect">
            <a:avLst/>
          </a:prstGeom>
          <a:noFill/>
        </p:spPr>
        <p:txBody>
          <a:bodyPr wrap="square" lIns="9144" rIns="9144" tIns="0" bIns="0" anchor="t">
            <a:spAutoFit/>
          </a:bodyPr>
          <a:lstStyle/>
          <a:p>
            <a:pPr>
              <a:lnSpc>
                <a:spcPct val="108000"/>
              </a:lnSpc>
              <a:spcBef>
                <a:spcPts val="0"/>
              </a:spcBef>
              <a:spcAft>
                <a:spcPts val="0"/>
              </a:spcAft>
            </a:pPr>
            <a:r>
              <a:rPr sz="2200" b="1">
                <a:solidFill>
                  <a:srgbClr val="008C91"/>
                </a:solidFill>
                <a:latin typeface="Liberation Sans"/>
              </a:rPr>
              <a:t>C1</a:t>
            </a:r>
          </a:p>
        </p:txBody>
      </p:sp>
      <p:sp>
        <p:nvSpPr>
          <p:cNvPr id="29" name="Text 10 s sim; 2 s updates"/>
          <p:cNvSpPr txBox="1"/>
          <p:nvPr/>
        </p:nvSpPr>
        <p:spPr>
          <a:xfrm>
            <a:off x="1234440" y="3538727"/>
            <a:ext cx="3922775" cy="475488"/>
          </a:xfrm>
          <a:prstGeom prst="rect">
            <a:avLst/>
          </a:prstGeom>
          <a:noFill/>
        </p:spPr>
        <p:txBody>
          <a:bodyPr wrap="square" lIns="9144" rIns="9144" tIns="0" bIns="0" anchor="t">
            <a:spAutoFit/>
          </a:bodyPr>
          <a:lstStyle/>
          <a:p>
            <a:pPr>
              <a:lnSpc>
                <a:spcPct val="108000"/>
              </a:lnSpc>
              <a:spcBef>
                <a:spcPts val="0"/>
              </a:spcBef>
              <a:spcAft>
                <a:spcPts val="0"/>
              </a:spcAft>
            </a:pPr>
            <a:r>
              <a:rPr sz="2200" b="0">
                <a:solidFill>
                  <a:srgbClr val="304B53"/>
                </a:solidFill>
                <a:latin typeface="Liberation Sans"/>
              </a:rPr>
              <a:t>10 s sim; 2 s updates</a:t>
            </a:r>
          </a:p>
        </p:txBody>
      </p:sp>
      <p:sp>
        <p:nvSpPr>
          <p:cNvPr id="30" name="Text Long fewer: wait for updates."/>
          <p:cNvSpPr txBox="1"/>
          <p:nvPr/>
        </p:nvSpPr>
        <p:spPr>
          <a:xfrm>
            <a:off x="5367528" y="3538727"/>
            <a:ext cx="6163056" cy="475488"/>
          </a:xfrm>
          <a:prstGeom prst="rect">
            <a:avLst/>
          </a:prstGeom>
          <a:noFill/>
        </p:spPr>
        <p:txBody>
          <a:bodyPr wrap="square" lIns="9144" rIns="9144" tIns="0" bIns="0" anchor="t">
            <a:spAutoFit/>
          </a:bodyPr>
          <a:lstStyle/>
          <a:p>
            <a:pPr>
              <a:lnSpc>
                <a:spcPct val="108000"/>
              </a:lnSpc>
              <a:spcBef>
                <a:spcPts val="0"/>
              </a:spcBef>
              <a:spcAft>
                <a:spcPts val="0"/>
              </a:spcAft>
            </a:pPr>
            <a:r>
              <a:rPr sz="2200" b="0">
                <a:solidFill>
                  <a:srgbClr val="304B53"/>
                </a:solidFill>
                <a:latin typeface="Liberation Sans"/>
              </a:rPr>
              <a:t>Long fewer: wait for updates.</a:t>
            </a:r>
          </a:p>
        </p:txBody>
      </p:sp>
      <p:sp>
        <p:nvSpPr>
          <p:cNvPr id="31" name="Rectangle 30"/>
          <p:cNvSpPr/>
          <p:nvPr/>
        </p:nvSpPr>
        <p:spPr>
          <a:xfrm>
            <a:off x="548640" y="4032504"/>
            <a:ext cx="576072" cy="6126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124712" y="4032504"/>
            <a:ext cx="4133087" cy="6126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57800" y="4032504"/>
            <a:ext cx="6382512" cy="6126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C2"/>
          <p:cNvSpPr txBox="1"/>
          <p:nvPr/>
        </p:nvSpPr>
        <p:spPr>
          <a:xfrm>
            <a:off x="640080" y="4151376"/>
            <a:ext cx="438912" cy="475488"/>
          </a:xfrm>
          <a:prstGeom prst="rect">
            <a:avLst/>
          </a:prstGeom>
          <a:noFill/>
        </p:spPr>
        <p:txBody>
          <a:bodyPr wrap="square" lIns="9144" rIns="9144" tIns="0" bIns="0" anchor="t">
            <a:spAutoFit/>
          </a:bodyPr>
          <a:lstStyle/>
          <a:p>
            <a:pPr>
              <a:lnSpc>
                <a:spcPct val="108000"/>
              </a:lnSpc>
              <a:spcBef>
                <a:spcPts val="0"/>
              </a:spcBef>
              <a:spcAft>
                <a:spcPts val="0"/>
              </a:spcAft>
            </a:pPr>
            <a:r>
              <a:rPr sz="2200" b="1">
                <a:solidFill>
                  <a:srgbClr val="008C91"/>
                </a:solidFill>
                <a:latin typeface="Liberation Sans"/>
              </a:rPr>
              <a:t>C2</a:t>
            </a:r>
          </a:p>
        </p:txBody>
      </p:sp>
      <p:sp>
        <p:nvSpPr>
          <p:cNvPr id="35" name="Text 10 s sim; 200 ms updates"/>
          <p:cNvSpPr txBox="1"/>
          <p:nvPr/>
        </p:nvSpPr>
        <p:spPr>
          <a:xfrm>
            <a:off x="1234440" y="4151376"/>
            <a:ext cx="3922775" cy="475488"/>
          </a:xfrm>
          <a:prstGeom prst="rect">
            <a:avLst/>
          </a:prstGeom>
          <a:noFill/>
        </p:spPr>
        <p:txBody>
          <a:bodyPr wrap="square" lIns="9144" rIns="9144" tIns="0" bIns="0" anchor="t">
            <a:spAutoFit/>
          </a:bodyPr>
          <a:lstStyle/>
          <a:p>
            <a:pPr>
              <a:lnSpc>
                <a:spcPct val="108000"/>
              </a:lnSpc>
              <a:spcBef>
                <a:spcPts val="0"/>
              </a:spcBef>
              <a:spcAft>
                <a:spcPts val="0"/>
              </a:spcAft>
            </a:pPr>
            <a:r>
              <a:rPr sz="2200" b="0">
                <a:solidFill>
                  <a:srgbClr val="304B53"/>
                </a:solidFill>
                <a:latin typeface="Liberation Sans"/>
              </a:rPr>
              <a:t>10 s sim; 200 ms updates</a:t>
            </a:r>
          </a:p>
        </p:txBody>
      </p:sp>
      <p:sp>
        <p:nvSpPr>
          <p:cNvPr id="36" name="Text Short fewer: checks span several"/>
          <p:cNvSpPr txBox="1"/>
          <p:nvPr/>
        </p:nvSpPr>
        <p:spPr>
          <a:xfrm>
            <a:off x="5367528" y="4151376"/>
            <a:ext cx="6163056" cy="475488"/>
          </a:xfrm>
          <a:prstGeom prst="rect">
            <a:avLst/>
          </a:prstGeom>
          <a:noFill/>
        </p:spPr>
        <p:txBody>
          <a:bodyPr wrap="square" lIns="9144" rIns="9144" tIns="0" bIns="0" anchor="t">
            <a:spAutoFit/>
          </a:bodyPr>
          <a:lstStyle/>
          <a:p>
            <a:pPr>
              <a:lnSpc>
                <a:spcPct val="108000"/>
              </a:lnSpc>
              <a:spcBef>
                <a:spcPts val="0"/>
              </a:spcBef>
              <a:spcAft>
                <a:spcPts val="0"/>
              </a:spcAft>
            </a:pPr>
            <a:r>
              <a:rPr sz="2200" b="0">
                <a:solidFill>
                  <a:srgbClr val="304B53"/>
                </a:solidFill>
                <a:latin typeface="Liberation Sans"/>
              </a:rPr>
              <a:t>Short fewer: checks span several changes.</a:t>
            </a:r>
          </a:p>
        </p:txBody>
      </p:sp>
      <p:sp>
        <p:nvSpPr>
          <p:cNvPr id="37" name="Rectangle 36"/>
          <p:cNvSpPr/>
          <p:nvPr/>
        </p:nvSpPr>
        <p:spPr>
          <a:xfrm>
            <a:off x="548640" y="4645152"/>
            <a:ext cx="576072" cy="777240"/>
          </a:xfrm>
          <a:prstGeom prst="rect">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24712" y="4645152"/>
            <a:ext cx="4133087" cy="777240"/>
          </a:xfrm>
          <a:prstGeom prst="rect">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257800" y="4645152"/>
            <a:ext cx="6382512" cy="777240"/>
          </a:xfrm>
          <a:prstGeom prst="rect">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 C3"/>
          <p:cNvSpPr txBox="1"/>
          <p:nvPr/>
        </p:nvSpPr>
        <p:spPr>
          <a:xfrm>
            <a:off x="640080" y="4764024"/>
            <a:ext cx="438912" cy="640080"/>
          </a:xfrm>
          <a:prstGeom prst="rect">
            <a:avLst/>
          </a:prstGeom>
          <a:noFill/>
        </p:spPr>
        <p:txBody>
          <a:bodyPr wrap="square" lIns="9144" rIns="9144" tIns="0" bIns="0" anchor="t">
            <a:spAutoFit/>
          </a:bodyPr>
          <a:lstStyle/>
          <a:p>
            <a:pPr>
              <a:lnSpc>
                <a:spcPct val="108000"/>
              </a:lnSpc>
              <a:spcBef>
                <a:spcPts val="0"/>
              </a:spcBef>
              <a:spcAft>
                <a:spcPts val="0"/>
              </a:spcAft>
            </a:pPr>
            <a:r>
              <a:rPr sz="2200" b="1">
                <a:solidFill>
                  <a:srgbClr val="008C91"/>
                </a:solidFill>
                <a:latin typeface="Liberation Sans"/>
              </a:rPr>
              <a:t>C3</a:t>
            </a:r>
          </a:p>
        </p:txBody>
      </p:sp>
      <p:sp>
        <p:nvSpPr>
          <p:cNvPr id="41" name="Text C2 + 200 ms latency setting"/>
          <p:cNvSpPr txBox="1"/>
          <p:nvPr/>
        </p:nvSpPr>
        <p:spPr>
          <a:xfrm>
            <a:off x="1234440" y="4764024"/>
            <a:ext cx="3922775" cy="640080"/>
          </a:xfrm>
          <a:prstGeom prst="rect">
            <a:avLst/>
          </a:prstGeom>
          <a:noFill/>
        </p:spPr>
        <p:txBody>
          <a:bodyPr wrap="square" lIns="9144" rIns="9144" tIns="0" bIns="0" anchor="t">
            <a:spAutoFit/>
          </a:bodyPr>
          <a:lstStyle/>
          <a:p>
            <a:pPr>
              <a:lnSpc>
                <a:spcPct val="108000"/>
              </a:lnSpc>
              <a:spcBef>
                <a:spcPts val="0"/>
              </a:spcBef>
              <a:spcAft>
                <a:spcPts val="0"/>
              </a:spcAft>
            </a:pPr>
            <a:r>
              <a:rPr sz="2200" b="0">
                <a:solidFill>
                  <a:srgbClr val="304B53"/>
                </a:solidFill>
                <a:latin typeface="Liberation Sans"/>
              </a:rPr>
              <a:t>C2 + 200 ms latency setting</a:t>
            </a:r>
          </a:p>
        </p:txBody>
      </p:sp>
      <p:sp>
        <p:nvSpPr>
          <p:cNvPr id="42" name="Text Delays rise; counts roughly like"/>
          <p:cNvSpPr txBox="1"/>
          <p:nvPr/>
        </p:nvSpPr>
        <p:spPr>
          <a:xfrm>
            <a:off x="5367528" y="4764024"/>
            <a:ext cx="6163056" cy="640080"/>
          </a:xfrm>
          <a:prstGeom prst="rect">
            <a:avLst/>
          </a:prstGeom>
          <a:noFill/>
        </p:spPr>
        <p:txBody>
          <a:bodyPr wrap="square" lIns="9144" rIns="9144" tIns="0" bIns="0" anchor="t">
            <a:spAutoFit/>
          </a:bodyPr>
          <a:lstStyle/>
          <a:p>
            <a:pPr>
              <a:lnSpc>
                <a:spcPct val="108000"/>
              </a:lnSpc>
              <a:spcBef>
                <a:spcPts val="0"/>
              </a:spcBef>
              <a:spcAft>
                <a:spcPts val="0"/>
              </a:spcAft>
            </a:pPr>
            <a:r>
              <a:rPr sz="2200" b="0">
                <a:solidFill>
                  <a:srgbClr val="304B53"/>
                </a:solidFill>
                <a:latin typeface="Liberation Sans"/>
              </a:rPr>
              <a:t>Delays rise; counts roughly like C2.</a:t>
            </a:r>
          </a:p>
        </p:txBody>
      </p:sp>
      <p:sp>
        <p:nvSpPr>
          <p:cNvPr id="43" name="Text Same image/settings • one observ"/>
          <p:cNvSpPr txBox="1"/>
          <p:nvPr/>
        </p:nvSpPr>
        <p:spPr>
          <a:xfrm>
            <a:off x="658368" y="5559552"/>
            <a:ext cx="10972800" cy="713232"/>
          </a:xfrm>
          <a:prstGeom prst="rect">
            <a:avLst/>
          </a:prstGeom>
          <a:noFill/>
        </p:spPr>
        <p:txBody>
          <a:bodyPr wrap="square" lIns="9144" rIns="9144" tIns="0" bIns="0" anchor="t">
            <a:spAutoFit/>
          </a:bodyPr>
          <a:lstStyle/>
          <a:p>
            <a:pPr>
              <a:lnSpc>
                <a:spcPct val="108000"/>
              </a:lnSpc>
              <a:spcBef>
                <a:spcPts val="0"/>
              </a:spcBef>
              <a:spcAft>
                <a:spcPts val="0"/>
              </a:spcAft>
            </a:pPr>
            <a:r>
              <a:rPr sz="2000" b="0">
                <a:solidFill>
                  <a:srgbClr val="304B53"/>
                </a:solidFill>
                <a:latin typeface="Liberation Sans"/>
              </a:rPr>
              <a:t>Same image/settings • one observer • alternating order • queue checked empty</a:t>
            </a:r>
          </a:p>
          <a:p>
            <a:pPr>
              <a:lnSpc>
                <a:spcPct val="108000"/>
              </a:lnSpc>
              <a:spcBef>
                <a:spcPts val="0"/>
              </a:spcBef>
              <a:spcAft>
                <a:spcPts val="0"/>
              </a:spcAft>
            </a:pPr>
            <a:r>
              <a:rPr sz="2000" b="0">
                <a:solidFill>
                  <a:srgbClr val="304B53"/>
                </a:solidFill>
                <a:latin typeface="Liberation Sans"/>
              </a:rPr>
              <a:t>Foreground sampled; SQL check output unsaved. C3 timing increase: 174–285 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Request counts depend on update "/>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Request counts depend on update frequency</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Measured results</a:t>
            </a:r>
          </a:p>
        </p:txBody>
      </p:sp>
      <p:sp>
        <p:nvSpPr>
          <p:cNvPr id="5" name="Text 08"/>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08</a:t>
            </a:r>
          </a:p>
        </p:txBody>
      </p:sp>
      <p:sp>
        <p:nvSpPr>
          <p:cNvPr id="6" name="Text Count = all observation GET star"/>
          <p:cNvSpPr txBox="1"/>
          <p:nvPr/>
        </p:nvSpPr>
        <p:spPr>
          <a:xfrm>
            <a:off x="548640" y="1060704"/>
            <a:ext cx="11064240" cy="41148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Count = all observation GET starts, including the first snapshot.</a:t>
            </a:r>
          </a:p>
        </p:txBody>
      </p:sp>
      <p:pic>
        <p:nvPicPr>
          <p:cNvPr id="7" name="Picture 6" descr="requests.png"/>
          <p:cNvPicPr>
            <a:picLocks noChangeAspect="1"/>
          </p:cNvPicPr>
          <p:nvPr/>
        </p:nvPicPr>
        <p:blipFill>
          <a:blip r:embed="rId2"/>
          <a:stretch>
            <a:fillRect/>
          </a:stretch>
        </p:blipFill>
        <p:spPr>
          <a:xfrm>
            <a:off x="365760" y="1636776"/>
            <a:ext cx="7909560" cy="4160520"/>
          </a:xfrm>
          <a:prstGeom prst="rect">
            <a:avLst/>
          </a:prstGeom>
        </p:spPr>
      </p:pic>
      <p:sp>
        <p:nvSpPr>
          <p:cNvPr id="8" name="Text Forecasts supported"/>
          <p:cNvSpPr txBox="1"/>
          <p:nvPr/>
        </p:nvSpPr>
        <p:spPr>
          <a:xfrm>
            <a:off x="8549640" y="1901952"/>
            <a:ext cx="3063240" cy="402336"/>
          </a:xfrm>
          <a:prstGeom prst="rect">
            <a:avLst/>
          </a:prstGeom>
          <a:noFill/>
        </p:spPr>
        <p:txBody>
          <a:bodyPr wrap="square" lIns="9144" rIns="9144" tIns="0" bIns="0" anchor="t">
            <a:spAutoFit/>
          </a:bodyPr>
          <a:lstStyle/>
          <a:p>
            <a:pPr>
              <a:lnSpc>
                <a:spcPct val="108000"/>
              </a:lnSpc>
              <a:spcBef>
                <a:spcPts val="0"/>
              </a:spcBef>
              <a:spcAft>
                <a:spcPts val="0"/>
              </a:spcAft>
            </a:pPr>
            <a:r>
              <a:rPr sz="2400" b="1">
                <a:solidFill>
                  <a:srgbClr val="008C91"/>
                </a:solidFill>
                <a:latin typeface="Liberation Sans"/>
              </a:rPr>
              <a:t>Forecasts supported</a:t>
            </a:r>
          </a:p>
        </p:txBody>
      </p:sp>
      <p:sp>
        <p:nvSpPr>
          <p:cNvPr id="9" name="Text A and C1: long fewer.&#10;B and C2: "/>
          <p:cNvSpPr txBox="1"/>
          <p:nvPr/>
        </p:nvSpPr>
        <p:spPr>
          <a:xfrm>
            <a:off x="8549640" y="2551176"/>
            <a:ext cx="3063240" cy="768096"/>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A and C1: long fewer.</a:t>
            </a:r>
          </a:p>
          <a:p>
            <a:pPr>
              <a:lnSpc>
                <a:spcPct val="108000"/>
              </a:lnSpc>
              <a:spcBef>
                <a:spcPts val="0"/>
              </a:spcBef>
              <a:spcAft>
                <a:spcPts val="0"/>
              </a:spcAft>
            </a:pPr>
            <a:r>
              <a:rPr sz="2300" b="0">
                <a:solidFill>
                  <a:srgbClr val="304B53"/>
                </a:solidFill>
                <a:latin typeface="Liberation Sans"/>
              </a:rPr>
              <a:t>B and C2: short fewer.</a:t>
            </a:r>
          </a:p>
        </p:txBody>
      </p:sp>
      <p:sp>
        <p:nvSpPr>
          <p:cNvPr id="10" name="Text Fast updates"/>
          <p:cNvSpPr txBox="1"/>
          <p:nvPr/>
        </p:nvSpPr>
        <p:spPr>
          <a:xfrm>
            <a:off x="8549640" y="3648456"/>
            <a:ext cx="3063240" cy="402336"/>
          </a:xfrm>
          <a:prstGeom prst="rect">
            <a:avLst/>
          </a:prstGeom>
          <a:noFill/>
        </p:spPr>
        <p:txBody>
          <a:bodyPr wrap="square" lIns="9144" rIns="9144" tIns="0" bIns="0" anchor="t">
            <a:spAutoFit/>
          </a:bodyPr>
          <a:lstStyle/>
          <a:p>
            <a:pPr>
              <a:lnSpc>
                <a:spcPct val="108000"/>
              </a:lnSpc>
              <a:spcBef>
                <a:spcPts val="0"/>
              </a:spcBef>
              <a:spcAft>
                <a:spcPts val="0"/>
              </a:spcAft>
            </a:pPr>
            <a:r>
              <a:rPr sz="2400" b="1">
                <a:solidFill>
                  <a:srgbClr val="008C91"/>
                </a:solidFill>
                <a:latin typeface="Liberation Sans"/>
              </a:rPr>
              <a:t>Fast updates</a:t>
            </a:r>
          </a:p>
        </p:txBody>
      </p:sp>
      <p:sp>
        <p:nvSpPr>
          <p:cNvPr id="11" name="Text C2 long median: 55.&#10;Active respo"/>
          <p:cNvSpPr txBox="1"/>
          <p:nvPr/>
        </p:nvSpPr>
        <p:spPr>
          <a:xfrm>
            <a:off x="8549640" y="4270248"/>
            <a:ext cx="3063240" cy="118872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C2 long median: 55.</a:t>
            </a:r>
          </a:p>
          <a:p>
            <a:pPr>
              <a:lnSpc>
                <a:spcPct val="108000"/>
              </a:lnSpc>
              <a:spcBef>
                <a:spcPts val="0"/>
              </a:spcBef>
              <a:spcAft>
                <a:spcPts val="0"/>
              </a:spcAft>
            </a:pPr>
            <a:r>
              <a:rPr sz="2300" b="0">
                <a:solidFill>
                  <a:srgbClr val="304B53"/>
                </a:solidFill>
                <a:latin typeface="Liberation Sans"/>
              </a:rPr>
              <a:t>Active responses start</a:t>
            </a:r>
          </a:p>
          <a:p>
            <a:pPr>
              <a:lnSpc>
                <a:spcPct val="108000"/>
              </a:lnSpc>
              <a:spcBef>
                <a:spcPts val="0"/>
              </a:spcBef>
              <a:spcAft>
                <a:spcPts val="0"/>
              </a:spcAft>
            </a:pPr>
            <a:r>
              <a:rPr sz="2300" b="0">
                <a:solidFill>
                  <a:srgbClr val="304B53"/>
                </a:solidFill>
                <a:latin typeface="Liberation Sans"/>
              </a:rPr>
              <a:t>another request.</a:t>
            </a:r>
          </a:p>
        </p:txBody>
      </p:sp>
      <p:sp>
        <p:nvSpPr>
          <p:cNvPr id="12" name="Text Bars/labels: median  •  Dots: 3 "/>
          <p:cNvSpPr txBox="1"/>
          <p:nvPr/>
        </p:nvSpPr>
        <p:spPr>
          <a:xfrm>
            <a:off x="658368" y="5971032"/>
            <a:ext cx="10972800" cy="365760"/>
          </a:xfrm>
          <a:prstGeom prst="rect">
            <a:avLst/>
          </a:prstGeom>
          <a:noFill/>
        </p:spPr>
        <p:txBody>
          <a:bodyPr wrap="square" lIns="9144" rIns="9144" tIns="0" bIns="0" anchor="t">
            <a:spAutoFit/>
          </a:bodyPr>
          <a:lstStyle/>
          <a:p>
            <a:pPr>
              <a:lnSpc>
                <a:spcPct val="108000"/>
              </a:lnSpc>
              <a:spcBef>
                <a:spcPts val="0"/>
              </a:spcBef>
              <a:spcAft>
                <a:spcPts val="0"/>
              </a:spcAft>
            </a:pPr>
            <a:r>
              <a:rPr sz="2100" b="0">
                <a:solidFill>
                  <a:srgbClr val="62757A"/>
                </a:solidFill>
                <a:latin typeface="Liberation Sans"/>
              </a:rPr>
              <a:t>Bars/labels: median  •  Dots: 3 individual runs  •  Lines: minimum–maximum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Long polling usually learned com"/>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Long polling usually learned completion sooner</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Measured results</a:t>
            </a:r>
          </a:p>
        </p:txBody>
      </p:sp>
      <p:sp>
        <p:nvSpPr>
          <p:cNvPr id="5" name="Text 09"/>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09</a:t>
            </a:r>
          </a:p>
        </p:txBody>
      </p:sp>
      <p:sp>
        <p:nvSpPr>
          <p:cNvPr id="6" name="Text Delay = browser receipt − server"/>
          <p:cNvSpPr txBox="1"/>
          <p:nvPr/>
        </p:nvSpPr>
        <p:spPr>
          <a:xfrm>
            <a:off x="548640" y="1060704"/>
            <a:ext cx="11064240" cy="41148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Delay = browser receipt − server terminal-commit log, in milliseconds.</a:t>
            </a:r>
          </a:p>
        </p:txBody>
      </p:sp>
      <p:pic>
        <p:nvPicPr>
          <p:cNvPr id="7" name="Picture 6" descr="delay.png"/>
          <p:cNvPicPr>
            <a:picLocks noChangeAspect="1"/>
          </p:cNvPicPr>
          <p:nvPr/>
        </p:nvPicPr>
        <p:blipFill>
          <a:blip r:embed="rId2"/>
          <a:stretch>
            <a:fillRect/>
          </a:stretch>
        </p:blipFill>
        <p:spPr>
          <a:xfrm>
            <a:off x="365760" y="1636776"/>
            <a:ext cx="7909560" cy="4160520"/>
          </a:xfrm>
          <a:prstGeom prst="rect">
            <a:avLst/>
          </a:prstGeom>
        </p:spPr>
      </p:pic>
      <p:sp>
        <p:nvSpPr>
          <p:cNvPr id="8" name="Text B: real processing"/>
          <p:cNvSpPr txBox="1"/>
          <p:nvPr/>
        </p:nvSpPr>
        <p:spPr>
          <a:xfrm>
            <a:off x="8549640" y="1901952"/>
            <a:ext cx="3063240" cy="402336"/>
          </a:xfrm>
          <a:prstGeom prst="rect">
            <a:avLst/>
          </a:prstGeom>
          <a:noFill/>
        </p:spPr>
        <p:txBody>
          <a:bodyPr wrap="square" lIns="9144" rIns="9144" tIns="0" bIns="0" anchor="t">
            <a:spAutoFit/>
          </a:bodyPr>
          <a:lstStyle/>
          <a:p>
            <a:pPr>
              <a:lnSpc>
                <a:spcPct val="108000"/>
              </a:lnSpc>
              <a:spcBef>
                <a:spcPts val="0"/>
              </a:spcBef>
              <a:spcAft>
                <a:spcPts val="0"/>
              </a:spcAft>
            </a:pPr>
            <a:r>
              <a:rPr sz="2400" b="1">
                <a:solidFill>
                  <a:srgbClr val="008C91"/>
                </a:solidFill>
                <a:latin typeface="Liberation Sans"/>
              </a:rPr>
              <a:t>B: real processing</a:t>
            </a:r>
          </a:p>
        </p:txBody>
      </p:sp>
      <p:sp>
        <p:nvSpPr>
          <p:cNvPr id="9" name="Text Short: 111 ms&#10;Long: 10 ms"/>
          <p:cNvSpPr txBox="1"/>
          <p:nvPr/>
        </p:nvSpPr>
        <p:spPr>
          <a:xfrm>
            <a:off x="8549640" y="2532888"/>
            <a:ext cx="3063240" cy="740664"/>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17363D"/>
                </a:solidFill>
                <a:latin typeface="Liberation Sans"/>
              </a:rPr>
              <a:t>Short: 111 ms</a:t>
            </a:r>
          </a:p>
          <a:p>
            <a:pPr>
              <a:lnSpc>
                <a:spcPct val="108000"/>
              </a:lnSpc>
              <a:spcBef>
                <a:spcPts val="0"/>
              </a:spcBef>
              <a:spcAft>
                <a:spcPts val="0"/>
              </a:spcAft>
            </a:pPr>
            <a:r>
              <a:rPr sz="2500" b="1">
                <a:solidFill>
                  <a:srgbClr val="17363D"/>
                </a:solidFill>
                <a:latin typeface="Liberation Sans"/>
              </a:rPr>
              <a:t>Long: 10 ms</a:t>
            </a:r>
          </a:p>
        </p:txBody>
      </p:sp>
      <p:sp>
        <p:nvSpPr>
          <p:cNvPr id="10" name="Text Keep the exception"/>
          <p:cNvSpPr txBox="1"/>
          <p:nvPr/>
        </p:nvSpPr>
        <p:spPr>
          <a:xfrm>
            <a:off x="8549640" y="3657600"/>
            <a:ext cx="3063240" cy="402336"/>
          </a:xfrm>
          <a:prstGeom prst="rect">
            <a:avLst/>
          </a:prstGeom>
          <a:noFill/>
        </p:spPr>
        <p:txBody>
          <a:bodyPr wrap="square" lIns="9144" rIns="9144" tIns="0" bIns="0" anchor="t">
            <a:spAutoFit/>
          </a:bodyPr>
          <a:lstStyle/>
          <a:p>
            <a:pPr>
              <a:lnSpc>
                <a:spcPct val="108000"/>
              </a:lnSpc>
              <a:spcBef>
                <a:spcPts val="0"/>
              </a:spcBef>
              <a:spcAft>
                <a:spcPts val="0"/>
              </a:spcAft>
            </a:pPr>
            <a:r>
              <a:rPr sz="2400" b="1">
                <a:solidFill>
                  <a:srgbClr val="008C91"/>
                </a:solidFill>
                <a:latin typeface="Liberation Sans"/>
              </a:rPr>
              <a:t>Keep the exception</a:t>
            </a:r>
          </a:p>
        </p:txBody>
      </p:sp>
      <p:sp>
        <p:nvSpPr>
          <p:cNvPr id="11" name="Text C3 repetition 3:&#10;short 426 ms,&#10;l"/>
          <p:cNvSpPr txBox="1"/>
          <p:nvPr/>
        </p:nvSpPr>
        <p:spPr>
          <a:xfrm>
            <a:off x="8549640" y="4270248"/>
            <a:ext cx="3063240" cy="1225296"/>
          </a:xfrm>
          <a:prstGeom prst="rect">
            <a:avLst/>
          </a:prstGeom>
          <a:noFill/>
        </p:spPr>
        <p:txBody>
          <a:bodyPr wrap="square" lIns="9144" rIns="9144" tIns="0" bIns="0" anchor="t">
            <a:spAutoFit/>
          </a:bodyPr>
          <a:lstStyle/>
          <a:p>
            <a:pPr>
              <a:lnSpc>
                <a:spcPct val="108000"/>
              </a:lnSpc>
              <a:spcBef>
                <a:spcPts val="0"/>
              </a:spcBef>
              <a:spcAft>
                <a:spcPts val="0"/>
              </a:spcAft>
            </a:pPr>
            <a:r>
              <a:rPr sz="2400" b="0">
                <a:solidFill>
                  <a:srgbClr val="304B53"/>
                </a:solidFill>
                <a:latin typeface="Liberation Sans"/>
              </a:rPr>
              <a:t>C3 repetition 3:</a:t>
            </a:r>
          </a:p>
          <a:p>
            <a:pPr>
              <a:lnSpc>
                <a:spcPct val="108000"/>
              </a:lnSpc>
              <a:spcBef>
                <a:spcPts val="0"/>
              </a:spcBef>
              <a:spcAft>
                <a:spcPts val="0"/>
              </a:spcAft>
            </a:pPr>
            <a:r>
              <a:rPr sz="2400" b="0">
                <a:solidFill>
                  <a:srgbClr val="304B53"/>
                </a:solidFill>
                <a:latin typeface="Liberation Sans"/>
              </a:rPr>
              <a:t>short 426 ms,</a:t>
            </a:r>
          </a:p>
          <a:p>
            <a:pPr>
              <a:lnSpc>
                <a:spcPct val="108000"/>
              </a:lnSpc>
              <a:spcBef>
                <a:spcPts val="0"/>
              </a:spcBef>
              <a:spcAft>
                <a:spcPts val="0"/>
              </a:spcAft>
            </a:pPr>
            <a:r>
              <a:rPr sz="2400" b="0">
                <a:solidFill>
                  <a:srgbClr val="304B53"/>
                </a:solidFill>
                <a:latin typeface="Liberation Sans"/>
              </a:rPr>
              <a:t>long 484 ms.</a:t>
            </a:r>
          </a:p>
        </p:txBody>
      </p:sp>
      <p:sp>
        <p:nvSpPr>
          <p:cNvPr id="12" name="Text Bars/labels: median  •  Dots: 3 "/>
          <p:cNvSpPr txBox="1"/>
          <p:nvPr/>
        </p:nvSpPr>
        <p:spPr>
          <a:xfrm>
            <a:off x="658368" y="5971032"/>
            <a:ext cx="7635240" cy="384048"/>
          </a:xfrm>
          <a:prstGeom prst="rect">
            <a:avLst/>
          </a:prstGeom>
          <a:noFill/>
        </p:spPr>
        <p:txBody>
          <a:bodyPr wrap="square" lIns="9144" rIns="9144" tIns="0" bIns="0" anchor="t">
            <a:spAutoFit/>
          </a:bodyPr>
          <a:lstStyle/>
          <a:p>
            <a:pPr>
              <a:lnSpc>
                <a:spcPct val="108000"/>
              </a:lnSpc>
              <a:spcBef>
                <a:spcPts val="0"/>
              </a:spcBef>
              <a:spcAft>
                <a:spcPts val="0"/>
              </a:spcAft>
            </a:pPr>
            <a:r>
              <a:rPr sz="2000" b="0">
                <a:solidFill>
                  <a:srgbClr val="62757A"/>
                </a:solidFill>
                <a:latin typeface="Liberation Sans"/>
              </a:rPr>
              <a:t>Bars/labels: median  •  Dots: 3 runs  •  Lines: min–max</a:t>
            </a:r>
          </a:p>
        </p:txBody>
      </p:sp>
      <p:sp>
        <p:nvSpPr>
          <p:cNvPr id="13" name="Text C3: delays ↑, GETs ↓"/>
          <p:cNvSpPr txBox="1"/>
          <p:nvPr/>
        </p:nvSpPr>
        <p:spPr>
          <a:xfrm>
            <a:off x="8549640" y="5971032"/>
            <a:ext cx="3063240" cy="384048"/>
          </a:xfrm>
          <a:prstGeom prst="rect">
            <a:avLst/>
          </a:prstGeom>
          <a:noFill/>
        </p:spPr>
        <p:txBody>
          <a:bodyPr wrap="square" lIns="9144" rIns="9144" tIns="0" bIns="0" anchor="t">
            <a:spAutoFit/>
          </a:bodyPr>
          <a:lstStyle/>
          <a:p>
            <a:pPr>
              <a:lnSpc>
                <a:spcPct val="108000"/>
              </a:lnSpc>
              <a:spcBef>
                <a:spcPts val="0"/>
              </a:spcBef>
              <a:spcAft>
                <a:spcPts val="0"/>
              </a:spcAft>
            </a:pPr>
            <a:r>
              <a:rPr sz="2000" b="1">
                <a:solidFill>
                  <a:srgbClr val="008C91"/>
                </a:solidFill>
                <a:latin typeface="Liberation Sans"/>
              </a:rPr>
              <a:t>C3: delays ↑, GETs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What these results do, and do no"/>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What these results do, and do not, establish</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Interpretation</a:t>
            </a:r>
          </a:p>
        </p:txBody>
      </p:sp>
      <p:sp>
        <p:nvSpPr>
          <p:cNvPr id="5" name="Text 10"/>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10</a:t>
            </a:r>
          </a:p>
        </p:txBody>
      </p:sp>
      <p:sp>
        <p:nvSpPr>
          <p:cNvPr id="6" name="Rounded Rectangle 5"/>
          <p:cNvSpPr/>
          <p:nvPr/>
        </p:nvSpPr>
        <p:spPr>
          <a:xfrm>
            <a:off x="557784" y="1389888"/>
            <a:ext cx="448056" cy="448056"/>
          </a:xfrm>
          <a:prstGeom prst="roundRect">
            <a:avLst>
              <a:gd name="adj" fmla="val 12000"/>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1"/>
          <p:cNvSpPr txBox="1"/>
          <p:nvPr/>
        </p:nvSpPr>
        <p:spPr>
          <a:xfrm>
            <a:off x="566928" y="1426464"/>
            <a:ext cx="429768" cy="310896"/>
          </a:xfrm>
          <a:prstGeom prst="rect">
            <a:avLst/>
          </a:prstGeom>
          <a:noFill/>
        </p:spPr>
        <p:txBody>
          <a:bodyPr wrap="square" lIns="9144" rIns="9144" tIns="0" bIns="0" anchor="t">
            <a:spAutoFit/>
          </a:bodyPr>
          <a:lstStyle/>
          <a:p>
            <a:pPr algn="ctr">
              <a:lnSpc>
                <a:spcPct val="108000"/>
              </a:lnSpc>
              <a:spcBef>
                <a:spcPts val="0"/>
              </a:spcBef>
              <a:spcAft>
                <a:spcPts val="0"/>
              </a:spcAft>
            </a:pPr>
            <a:r>
              <a:rPr sz="2100" b="1">
                <a:solidFill>
                  <a:srgbClr val="008C91"/>
                </a:solidFill>
                <a:latin typeface="Liberation Sans"/>
              </a:rPr>
              <a:t>1</a:t>
            </a:r>
          </a:p>
        </p:txBody>
      </p:sp>
      <p:sp>
        <p:nvSpPr>
          <p:cNvPr id="8" name="Text Detection is not processing"/>
          <p:cNvSpPr txBox="1"/>
          <p:nvPr/>
        </p:nvSpPr>
        <p:spPr>
          <a:xfrm>
            <a:off x="1225296" y="1371600"/>
            <a:ext cx="10378440" cy="356616"/>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17363D"/>
                </a:solidFill>
                <a:latin typeface="Liberation Sans"/>
              </a:rPr>
              <a:t>Detection is not processing</a:t>
            </a:r>
          </a:p>
        </p:txBody>
      </p:sp>
      <p:sp>
        <p:nvSpPr>
          <p:cNvPr id="9" name="Text The worker’s work is separate fr"/>
          <p:cNvSpPr txBox="1"/>
          <p:nvPr/>
        </p:nvSpPr>
        <p:spPr>
          <a:xfrm>
            <a:off x="1225296" y="1819656"/>
            <a:ext cx="10378440" cy="36576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The worker’s work is separate from browser receipt.</a:t>
            </a:r>
          </a:p>
        </p:txBody>
      </p:sp>
      <p:sp>
        <p:nvSpPr>
          <p:cNvPr id="10" name="Rounded Rectangle 9"/>
          <p:cNvSpPr/>
          <p:nvPr/>
        </p:nvSpPr>
        <p:spPr>
          <a:xfrm>
            <a:off x="557784" y="2322576"/>
            <a:ext cx="448056" cy="448056"/>
          </a:xfrm>
          <a:prstGeom prst="roundRect">
            <a:avLst>
              <a:gd name="adj" fmla="val 12000"/>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2"/>
          <p:cNvSpPr txBox="1"/>
          <p:nvPr/>
        </p:nvSpPr>
        <p:spPr>
          <a:xfrm>
            <a:off x="566928" y="2359152"/>
            <a:ext cx="429768" cy="310896"/>
          </a:xfrm>
          <a:prstGeom prst="rect">
            <a:avLst/>
          </a:prstGeom>
          <a:noFill/>
        </p:spPr>
        <p:txBody>
          <a:bodyPr wrap="square" lIns="9144" rIns="9144" tIns="0" bIns="0" anchor="t">
            <a:spAutoFit/>
          </a:bodyPr>
          <a:lstStyle/>
          <a:p>
            <a:pPr algn="ctr">
              <a:lnSpc>
                <a:spcPct val="108000"/>
              </a:lnSpc>
              <a:spcBef>
                <a:spcPts val="0"/>
              </a:spcBef>
              <a:spcAft>
                <a:spcPts val="0"/>
              </a:spcAft>
            </a:pPr>
            <a:r>
              <a:rPr sz="2100" b="1">
                <a:solidFill>
                  <a:srgbClr val="008C91"/>
                </a:solidFill>
                <a:latin typeface="Liberation Sans"/>
              </a:rPr>
              <a:t>2</a:t>
            </a:r>
          </a:p>
        </p:txBody>
      </p:sp>
      <p:sp>
        <p:nvSpPr>
          <p:cNvPr id="12" name="Text HTTP counts are not total server"/>
          <p:cNvSpPr txBox="1"/>
          <p:nvPr/>
        </p:nvSpPr>
        <p:spPr>
          <a:xfrm>
            <a:off x="1225296" y="2304288"/>
            <a:ext cx="10378440" cy="356616"/>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17363D"/>
                </a:solidFill>
                <a:latin typeface="Liberation Sans"/>
              </a:rPr>
              <a:t>HTTP counts are not total server cost</a:t>
            </a:r>
          </a:p>
        </p:txBody>
      </p:sp>
      <p:sp>
        <p:nvSpPr>
          <p:cNvPr id="13" name="Text C1 median SQL reads: short 13; l"/>
          <p:cNvSpPr txBox="1"/>
          <p:nvPr/>
        </p:nvSpPr>
        <p:spPr>
          <a:xfrm>
            <a:off x="1225296" y="2752344"/>
            <a:ext cx="10378440" cy="36576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C1 median SQL reads: short 13; long 20.</a:t>
            </a:r>
          </a:p>
        </p:txBody>
      </p:sp>
      <p:sp>
        <p:nvSpPr>
          <p:cNvPr id="14" name="Rounded Rectangle 13"/>
          <p:cNvSpPr/>
          <p:nvPr/>
        </p:nvSpPr>
        <p:spPr>
          <a:xfrm>
            <a:off x="557784" y="3255264"/>
            <a:ext cx="448056" cy="448056"/>
          </a:xfrm>
          <a:prstGeom prst="roundRect">
            <a:avLst>
              <a:gd name="adj" fmla="val 12000"/>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3"/>
          <p:cNvSpPr txBox="1"/>
          <p:nvPr/>
        </p:nvSpPr>
        <p:spPr>
          <a:xfrm>
            <a:off x="566928" y="3291840"/>
            <a:ext cx="429768" cy="310896"/>
          </a:xfrm>
          <a:prstGeom prst="rect">
            <a:avLst/>
          </a:prstGeom>
          <a:noFill/>
        </p:spPr>
        <p:txBody>
          <a:bodyPr wrap="square" lIns="9144" rIns="9144" tIns="0" bIns="0" anchor="t">
            <a:spAutoFit/>
          </a:bodyPr>
          <a:lstStyle/>
          <a:p>
            <a:pPr algn="ctr">
              <a:lnSpc>
                <a:spcPct val="108000"/>
              </a:lnSpc>
              <a:spcBef>
                <a:spcPts val="0"/>
              </a:spcBef>
              <a:spcAft>
                <a:spcPts val="0"/>
              </a:spcAft>
            </a:pPr>
            <a:r>
              <a:rPr sz="2100" b="1">
                <a:solidFill>
                  <a:srgbClr val="008C91"/>
                </a:solidFill>
                <a:latin typeface="Liberation Sans"/>
              </a:rPr>
              <a:t>3</a:t>
            </a:r>
          </a:p>
        </p:txBody>
      </p:sp>
      <p:sp>
        <p:nvSpPr>
          <p:cNvPr id="16" name="Text A version gap is not a lost fina"/>
          <p:cNvSpPr txBox="1"/>
          <p:nvPr/>
        </p:nvSpPr>
        <p:spPr>
          <a:xfrm>
            <a:off x="1225296" y="3236976"/>
            <a:ext cx="10378440" cy="356616"/>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17363D"/>
                </a:solidFill>
                <a:latin typeface="Liberation Sans"/>
              </a:rPr>
              <a:t>A version gap is not a lost final result</a:t>
            </a:r>
          </a:p>
        </p:txBody>
      </p:sp>
      <p:sp>
        <p:nvSpPr>
          <p:cNvPr id="17" name="Text C2 → C3 long medians: 54 → 43 ne"/>
          <p:cNvSpPr txBox="1"/>
          <p:nvPr/>
        </p:nvSpPr>
        <p:spPr>
          <a:xfrm>
            <a:off x="1225296" y="3685032"/>
            <a:ext cx="10378440" cy="36576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C2 → C3 long medians: 54 → 43 new; 1 → 12 missed.</a:t>
            </a:r>
          </a:p>
        </p:txBody>
      </p:sp>
      <p:sp>
        <p:nvSpPr>
          <p:cNvPr id="18" name="Rounded Rectangle 17"/>
          <p:cNvSpPr/>
          <p:nvPr/>
        </p:nvSpPr>
        <p:spPr>
          <a:xfrm>
            <a:off x="557784" y="4187952"/>
            <a:ext cx="448056" cy="448056"/>
          </a:xfrm>
          <a:prstGeom prst="roundRect">
            <a:avLst>
              <a:gd name="adj" fmla="val 12000"/>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4"/>
          <p:cNvSpPr txBox="1"/>
          <p:nvPr/>
        </p:nvSpPr>
        <p:spPr>
          <a:xfrm>
            <a:off x="566928" y="4224528"/>
            <a:ext cx="429768" cy="310896"/>
          </a:xfrm>
          <a:prstGeom prst="rect">
            <a:avLst/>
          </a:prstGeom>
          <a:noFill/>
        </p:spPr>
        <p:txBody>
          <a:bodyPr wrap="square" lIns="9144" rIns="9144" tIns="0" bIns="0" anchor="t">
            <a:spAutoFit/>
          </a:bodyPr>
          <a:lstStyle/>
          <a:p>
            <a:pPr algn="ctr">
              <a:lnSpc>
                <a:spcPct val="108000"/>
              </a:lnSpc>
              <a:spcBef>
                <a:spcPts val="0"/>
              </a:spcBef>
              <a:spcAft>
                <a:spcPts val="0"/>
              </a:spcAft>
            </a:pPr>
            <a:r>
              <a:rPr sz="2100" b="1">
                <a:solidFill>
                  <a:srgbClr val="008C91"/>
                </a:solidFill>
                <a:latin typeface="Liberation Sans"/>
              </a:rPr>
              <a:t>4</a:t>
            </a:r>
          </a:p>
        </p:txBody>
      </p:sp>
      <p:sp>
        <p:nvSpPr>
          <p:cNvPr id="20" name="Text Every event needs stronger guara"/>
          <p:cNvSpPr txBox="1"/>
          <p:nvPr/>
        </p:nvSpPr>
        <p:spPr>
          <a:xfrm>
            <a:off x="1225296" y="4169664"/>
            <a:ext cx="10378440" cy="356616"/>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17363D"/>
                </a:solidFill>
                <a:latin typeface="Liberation Sans"/>
              </a:rPr>
              <a:t>Every event needs stronger guarantees</a:t>
            </a:r>
          </a:p>
        </p:txBody>
      </p:sp>
      <p:sp>
        <p:nvSpPr>
          <p:cNvPr id="21" name="Text Keep durable event history and s"/>
          <p:cNvSpPr txBox="1"/>
          <p:nvPr/>
        </p:nvSpPr>
        <p:spPr>
          <a:xfrm>
            <a:off x="1225296" y="4617720"/>
            <a:ext cx="10378440" cy="36576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Keep durable event history and support replay.</a:t>
            </a:r>
          </a:p>
        </p:txBody>
      </p:sp>
      <p:sp>
        <p:nvSpPr>
          <p:cNvPr id="22" name="Rounded Rectangle 21"/>
          <p:cNvSpPr/>
          <p:nvPr/>
        </p:nvSpPr>
        <p:spPr>
          <a:xfrm>
            <a:off x="557784" y="5120640"/>
            <a:ext cx="448056" cy="448056"/>
          </a:xfrm>
          <a:prstGeom prst="roundRect">
            <a:avLst>
              <a:gd name="adj" fmla="val 12000"/>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5"/>
          <p:cNvSpPr txBox="1"/>
          <p:nvPr/>
        </p:nvSpPr>
        <p:spPr>
          <a:xfrm>
            <a:off x="566928" y="5157216"/>
            <a:ext cx="429768" cy="310896"/>
          </a:xfrm>
          <a:prstGeom prst="rect">
            <a:avLst/>
          </a:prstGeom>
          <a:noFill/>
        </p:spPr>
        <p:txBody>
          <a:bodyPr wrap="square" lIns="9144" rIns="9144" tIns="0" bIns="0" anchor="t">
            <a:spAutoFit/>
          </a:bodyPr>
          <a:lstStyle/>
          <a:p>
            <a:pPr algn="ctr">
              <a:lnSpc>
                <a:spcPct val="108000"/>
              </a:lnSpc>
              <a:spcBef>
                <a:spcPts val="0"/>
              </a:spcBef>
              <a:spcAft>
                <a:spcPts val="0"/>
              </a:spcAft>
            </a:pPr>
            <a:r>
              <a:rPr sz="2100" b="1">
                <a:solidFill>
                  <a:srgbClr val="008C91"/>
                </a:solidFill>
                <a:latin typeface="Liberation Sans"/>
              </a:rPr>
              <a:t>5</a:t>
            </a:r>
          </a:p>
        </p:txBody>
      </p:sp>
      <p:sp>
        <p:nvSpPr>
          <p:cNvPr id="24" name="Text One continuing response could ca"/>
          <p:cNvSpPr txBox="1"/>
          <p:nvPr/>
        </p:nvSpPr>
        <p:spPr>
          <a:xfrm>
            <a:off x="1225296" y="5102352"/>
            <a:ext cx="10378440" cy="356616"/>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17363D"/>
                </a:solidFill>
                <a:latin typeface="Liberation Sans"/>
              </a:rPr>
              <a:t>One continuing response could carry more</a:t>
            </a:r>
          </a:p>
        </p:txBody>
      </p:sp>
      <p:sp>
        <p:nvSpPr>
          <p:cNvPr id="25" name="Text Frame updates for incremental re"/>
          <p:cNvSpPr txBox="1"/>
          <p:nvPr/>
        </p:nvSpPr>
        <p:spPr>
          <a:xfrm>
            <a:off x="1225296" y="5550407"/>
            <a:ext cx="10378440" cy="36576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Frame updates for incremental reading. Not implemented.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Choose for the workload, not a u"/>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Choose for the workload, not a universal winner</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Limitations and recommendation</a:t>
            </a:r>
          </a:p>
        </p:txBody>
      </p:sp>
      <p:sp>
        <p:nvSpPr>
          <p:cNvPr id="5" name="Text 11"/>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11</a:t>
            </a:r>
          </a:p>
        </p:txBody>
      </p:sp>
      <p:sp>
        <p:nvSpPr>
          <p:cNvPr id="6" name="Rounded Rectangle 5"/>
          <p:cNvSpPr/>
          <p:nvPr/>
        </p:nvSpPr>
        <p:spPr>
          <a:xfrm>
            <a:off x="548640" y="1389888"/>
            <a:ext cx="5431536" cy="3163824"/>
          </a:xfrm>
          <a:prstGeom prst="roundRect">
            <a:avLst>
              <a:gd name="adj" fmla="val 12000"/>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What limits the conclusion"/>
          <p:cNvSpPr txBox="1"/>
          <p:nvPr/>
        </p:nvSpPr>
        <p:spPr>
          <a:xfrm>
            <a:off x="758952" y="1572768"/>
            <a:ext cx="5010912" cy="411480"/>
          </a:xfrm>
          <a:prstGeom prst="rect">
            <a:avLst/>
          </a:prstGeom>
          <a:noFill/>
        </p:spPr>
        <p:txBody>
          <a:bodyPr wrap="square" lIns="9144" rIns="9144" tIns="0" bIns="0" anchor="t">
            <a:spAutoFit/>
          </a:bodyPr>
          <a:lstStyle/>
          <a:p>
            <a:pPr>
              <a:lnSpc>
                <a:spcPct val="108000"/>
              </a:lnSpc>
              <a:spcBef>
                <a:spcPts val="0"/>
              </a:spcBef>
              <a:spcAft>
                <a:spcPts val="0"/>
              </a:spcAft>
            </a:pPr>
            <a:r>
              <a:rPr sz="2400" b="1">
                <a:solidFill>
                  <a:srgbClr val="008C91"/>
                </a:solidFill>
                <a:latin typeface="Liberation Sans"/>
              </a:rPr>
              <a:t>What limits the conclusion</a:t>
            </a:r>
          </a:p>
        </p:txBody>
      </p:sp>
      <p:sp>
        <p:nvSpPr>
          <p:cNvPr id="8" name="Text 3 repeats, 1 image, 1 computer&#10;A"/>
          <p:cNvSpPr txBox="1"/>
          <p:nvPr/>
        </p:nvSpPr>
        <p:spPr>
          <a:xfrm>
            <a:off x="758952" y="2148840"/>
            <a:ext cx="5010912" cy="2249424"/>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3 repeats, 1 image, 1 computer</a:t>
            </a:r>
          </a:p>
          <a:p>
            <a:pPr>
              <a:lnSpc>
                <a:spcPct val="108000"/>
              </a:lnSpc>
              <a:spcBef>
                <a:spcPts val="0"/>
              </a:spcBef>
              <a:spcAft>
                <a:spcPts val="0"/>
              </a:spcAft>
            </a:pPr>
            <a:r>
              <a:rPr sz="2300" b="0">
                <a:solidFill>
                  <a:srgbClr val="304B53"/>
                </a:solidFill>
                <a:latin typeface="Liberation Sans"/>
              </a:rPr>
              <a:t>Approximate latency and timestamps</a:t>
            </a:r>
          </a:p>
          <a:p>
            <a:pPr>
              <a:lnSpc>
                <a:spcPct val="108000"/>
              </a:lnSpc>
              <a:spcBef>
                <a:spcPts val="0"/>
              </a:spcBef>
              <a:spcAft>
                <a:spcPts val="0"/>
              </a:spcAft>
            </a:pPr>
            <a:r>
              <a:rPr sz="2300" b="0">
                <a:solidFill>
                  <a:srgbClr val="304B53"/>
                </a:solidFill>
                <a:latin typeface="Liberation Sans"/>
              </a:rPr>
              <a:t>Sampled visibility; unsaved queue output</a:t>
            </a:r>
          </a:p>
          <a:p>
            <a:pPr>
              <a:lnSpc>
                <a:spcPct val="108000"/>
              </a:lnSpc>
              <a:spcBef>
                <a:spcPts val="0"/>
              </a:spcBef>
              <a:spcAft>
                <a:spcPts val="0"/>
              </a:spcAft>
            </a:pPr>
            <a:r>
              <a:rPr sz="2300" b="0">
                <a:solidFill>
                  <a:srgbClr val="304B53"/>
                </a:solidFill>
                <a:latin typeface="Liberation Sans"/>
              </a:rPr>
              <a:t>No CPU, memory or scaling benchmark</a:t>
            </a:r>
          </a:p>
        </p:txBody>
      </p:sp>
      <p:sp>
        <p:nvSpPr>
          <p:cNvPr id="9" name="Rounded Rectangle 8"/>
          <p:cNvSpPr/>
          <p:nvPr/>
        </p:nvSpPr>
        <p:spPr>
          <a:xfrm>
            <a:off x="6208776" y="1389888"/>
            <a:ext cx="5431536" cy="3163824"/>
          </a:xfrm>
          <a:prstGeom prst="roundRect">
            <a:avLst>
              <a:gd name="adj" fmla="val 12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My recommendation"/>
          <p:cNvSpPr txBox="1"/>
          <p:nvPr/>
        </p:nvSpPr>
        <p:spPr>
          <a:xfrm>
            <a:off x="6419088" y="1572768"/>
            <a:ext cx="5010912" cy="411480"/>
          </a:xfrm>
          <a:prstGeom prst="rect">
            <a:avLst/>
          </a:prstGeom>
          <a:noFill/>
        </p:spPr>
        <p:txBody>
          <a:bodyPr wrap="square" lIns="9144" rIns="9144" tIns="0" bIns="0" anchor="t">
            <a:spAutoFit/>
          </a:bodyPr>
          <a:lstStyle/>
          <a:p>
            <a:pPr>
              <a:lnSpc>
                <a:spcPct val="108000"/>
              </a:lnSpc>
              <a:spcBef>
                <a:spcPts val="0"/>
              </a:spcBef>
              <a:spcAft>
                <a:spcPts val="0"/>
              </a:spcAft>
            </a:pPr>
            <a:r>
              <a:rPr sz="2400" b="1">
                <a:solidFill>
                  <a:srgbClr val="CF167E"/>
                </a:solidFill>
                <a:latin typeface="Liberation Sans"/>
              </a:rPr>
              <a:t>My recommendation</a:t>
            </a:r>
          </a:p>
        </p:txBody>
      </p:sp>
      <p:sp>
        <p:nvSpPr>
          <p:cNvPr id="11" name="Text Long polling for prompt feedback"/>
          <p:cNvSpPr txBox="1"/>
          <p:nvPr/>
        </p:nvSpPr>
        <p:spPr>
          <a:xfrm>
            <a:off x="6419088" y="2148840"/>
            <a:ext cx="5010912" cy="2249424"/>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Long polling for prompt feedback</a:t>
            </a:r>
          </a:p>
          <a:p>
            <a:pPr>
              <a:lnSpc>
                <a:spcPct val="108000"/>
              </a:lnSpc>
              <a:spcBef>
                <a:spcPts val="0"/>
              </a:spcBef>
              <a:spcAft>
                <a:spcPts val="0"/>
              </a:spcAft>
            </a:pPr>
            <a:r>
              <a:rPr sz="2300" b="0">
                <a:solidFill>
                  <a:srgbClr val="304B53"/>
                </a:solidFill>
                <a:latin typeface="Liberation Sans"/>
              </a:rPr>
              <a:t>and quiet or occasional changes.</a:t>
            </a:r>
          </a:p>
          <a:p>
            <a:pPr>
              <a:lnSpc>
                <a:spcPct val="108000"/>
              </a:lnSpc>
              <a:spcBef>
                <a:spcPts val="0"/>
              </a:spcBef>
              <a:spcAft>
                <a:spcPts val="0"/>
              </a:spcAft>
            </a:pPr>
          </a:p>
          <a:p>
            <a:pPr>
              <a:lnSpc>
                <a:spcPct val="108000"/>
              </a:lnSpc>
              <a:spcBef>
                <a:spcPts val="0"/>
              </a:spcBef>
              <a:spcAft>
                <a:spcPts val="0"/>
              </a:spcAft>
            </a:pPr>
            <a:r>
              <a:rPr sz="2300" b="0">
                <a:solidFill>
                  <a:srgbClr val="304B53"/>
                </a:solidFill>
                <a:latin typeface="Liberation Sans"/>
              </a:rPr>
              <a:t>Short polling when ~1 s checks are</a:t>
            </a:r>
          </a:p>
          <a:p>
            <a:pPr>
              <a:lnSpc>
                <a:spcPct val="108000"/>
              </a:lnSpc>
              <a:spcBef>
                <a:spcPts val="0"/>
              </a:spcBef>
              <a:spcAft>
                <a:spcPts val="0"/>
              </a:spcAft>
            </a:pPr>
            <a:r>
              <a:rPr sz="2300" b="0">
                <a:solidFill>
                  <a:srgbClr val="304B53"/>
                </a:solidFill>
                <a:latin typeface="Liberation Sans"/>
              </a:rPr>
              <a:t>acceptable during frequent changes.</a:t>
            </a:r>
          </a:p>
        </p:txBody>
      </p:sp>
      <p:sp>
        <p:nvSpPr>
          <p:cNvPr id="12" name="Rounded Rectangle 11"/>
          <p:cNvSpPr/>
          <p:nvPr/>
        </p:nvSpPr>
        <p:spPr>
          <a:xfrm>
            <a:off x="548640" y="4974336"/>
            <a:ext cx="11091672" cy="1097280"/>
          </a:xfrm>
          <a:prstGeom prst="roundRect">
            <a:avLst>
              <a:gd name="adj" fmla="val 12000"/>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Measured: GETs, detection delay,"/>
          <p:cNvSpPr txBox="1"/>
          <p:nvPr/>
        </p:nvSpPr>
        <p:spPr>
          <a:xfrm>
            <a:off x="768096" y="5193792"/>
            <a:ext cx="10652760" cy="621792"/>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Measured: GETs, detection delay, versions and observation SQL reads.</a:t>
            </a:r>
          </a:p>
          <a:p>
            <a:pPr>
              <a:lnSpc>
                <a:spcPct val="108000"/>
              </a:lnSpc>
              <a:spcBef>
                <a:spcPts val="0"/>
              </a:spcBef>
              <a:spcAft>
                <a:spcPts val="0"/>
              </a:spcAft>
            </a:pPr>
            <a:r>
              <a:rPr sz="2300" b="0">
                <a:solidFill>
                  <a:srgbClr val="304B53"/>
                </a:solidFill>
                <a:latin typeface="Liberation Sans"/>
              </a:rPr>
              <a:t>Not established: lower total resource cost or better performance at scale.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Less checking is only one part o"/>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Less checking is only one part of the decision</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Conclusion and questions</a:t>
            </a:r>
          </a:p>
        </p:txBody>
      </p:sp>
      <p:sp>
        <p:nvSpPr>
          <p:cNvPr id="5" name="Text 12"/>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15</a:t>
            </a:r>
          </a:p>
        </p:txBody>
      </p:sp>
      <p:sp>
        <p:nvSpPr>
          <p:cNvPr id="6" name="Text Long polling reduced quiet-job t"/>
          <p:cNvSpPr txBox="1"/>
          <p:nvPr/>
        </p:nvSpPr>
        <p:spPr>
          <a:xfrm>
            <a:off x="749808" y="1517904"/>
            <a:ext cx="10652760" cy="987552"/>
          </a:xfrm>
          <a:prstGeom prst="rect">
            <a:avLst/>
          </a:prstGeom>
          <a:noFill/>
        </p:spPr>
        <p:txBody>
          <a:bodyPr wrap="square" lIns="9144" rIns="9144" tIns="0" bIns="0" anchor="t">
            <a:spAutoFit/>
          </a:bodyPr>
          <a:lstStyle/>
          <a:p>
            <a:pPr>
              <a:lnSpc>
                <a:spcPct val="108000"/>
              </a:lnSpc>
              <a:spcBef>
                <a:spcPts val="0"/>
              </a:spcBef>
              <a:spcAft>
                <a:spcPts val="0"/>
              </a:spcAft>
            </a:pPr>
            <a:r>
              <a:rPr sz="3400" b="1">
                <a:solidFill>
                  <a:srgbClr val="17363D"/>
                </a:solidFill>
                <a:latin typeface="Liberation Sans"/>
              </a:rPr>
              <a:t>Long polling reduced quiet-job traffic</a:t>
            </a:r>
          </a:p>
          <a:p>
            <a:pPr>
              <a:lnSpc>
                <a:spcPct val="108000"/>
              </a:lnSpc>
              <a:spcBef>
                <a:spcPts val="0"/>
              </a:spcBef>
              <a:spcAft>
                <a:spcPts val="0"/>
              </a:spcAft>
            </a:pPr>
            <a:r>
              <a:rPr sz="3400" b="1">
                <a:solidFill>
                  <a:srgbClr val="17363D"/>
                </a:solidFill>
                <a:latin typeface="Liberation Sans"/>
              </a:rPr>
              <a:t>and usually delivered completion sooner.</a:t>
            </a:r>
          </a:p>
        </p:txBody>
      </p:sp>
      <p:sp>
        <p:nvSpPr>
          <p:cNvPr id="7" name="Text Frequent updates and latency cha"/>
          <p:cNvSpPr txBox="1"/>
          <p:nvPr/>
        </p:nvSpPr>
        <p:spPr>
          <a:xfrm>
            <a:off x="749808" y="2770632"/>
            <a:ext cx="10652760" cy="786384"/>
          </a:xfrm>
          <a:prstGeom prst="rect">
            <a:avLst/>
          </a:prstGeom>
          <a:noFill/>
        </p:spPr>
        <p:txBody>
          <a:bodyPr wrap="square" lIns="9144" rIns="9144" tIns="0" bIns="0" anchor="t">
            <a:spAutoFit/>
          </a:bodyPr>
          <a:lstStyle/>
          <a:p>
            <a:pPr>
              <a:lnSpc>
                <a:spcPct val="108000"/>
              </a:lnSpc>
              <a:spcBef>
                <a:spcPts val="0"/>
              </a:spcBef>
              <a:spcAft>
                <a:spcPts val="0"/>
              </a:spcAft>
            </a:pPr>
            <a:r>
              <a:rPr sz="2700" b="0">
                <a:solidFill>
                  <a:srgbClr val="304B53"/>
                </a:solidFill>
                <a:latin typeface="Liberation Sans"/>
              </a:rPr>
              <a:t>Frequent updates and latency changed the trade-off.</a:t>
            </a:r>
          </a:p>
          <a:p>
            <a:pPr>
              <a:lnSpc>
                <a:spcPct val="108000"/>
              </a:lnSpc>
              <a:spcBef>
                <a:spcPts val="0"/>
              </a:spcBef>
              <a:spcAft>
                <a:spcPts val="0"/>
              </a:spcAft>
            </a:pPr>
            <a:r>
              <a:rPr sz="2700" b="0">
                <a:solidFill>
                  <a:srgbClr val="304B53"/>
                </a:solidFill>
                <a:latin typeface="Liberation Sans"/>
              </a:rPr>
              <a:t>The final state mattered more than receiving every snapshot.</a:t>
            </a:r>
          </a:p>
        </p:txBody>
      </p:sp>
      <p:sp>
        <p:nvSpPr>
          <p:cNvPr id="8" name="Text Questions?"/>
          <p:cNvSpPr txBox="1"/>
          <p:nvPr/>
        </p:nvSpPr>
        <p:spPr>
          <a:xfrm>
            <a:off x="749808" y="4096512"/>
            <a:ext cx="10652760" cy="676656"/>
          </a:xfrm>
          <a:prstGeom prst="rect">
            <a:avLst/>
          </a:prstGeom>
          <a:noFill/>
        </p:spPr>
        <p:txBody>
          <a:bodyPr wrap="square" lIns="9144" rIns="9144" tIns="0" bIns="0" anchor="t">
            <a:spAutoFit/>
          </a:bodyPr>
          <a:lstStyle/>
          <a:p>
            <a:pPr>
              <a:lnSpc>
                <a:spcPct val="108000"/>
              </a:lnSpc>
              <a:spcBef>
                <a:spcPts val="0"/>
              </a:spcBef>
              <a:spcAft>
                <a:spcPts val="0"/>
              </a:spcAft>
            </a:pPr>
            <a:r>
              <a:rPr sz="3800" b="1">
                <a:solidFill>
                  <a:srgbClr val="008C91"/>
                </a:solidFill>
                <a:latin typeface="Liberation Sans"/>
              </a:rPr>
              <a:t>Questions?</a:t>
            </a:r>
          </a:p>
        </p:txBody>
      </p:sp>
      <p:sp>
        <p:nvSpPr>
          <p:cNvPr id="9" name="Rounded Rectangle 8"/>
          <p:cNvSpPr/>
          <p:nvPr/>
        </p:nvSpPr>
        <p:spPr>
          <a:xfrm>
            <a:off x="548640" y="5285232"/>
            <a:ext cx="11091672" cy="941832"/>
          </a:xfrm>
          <a:prstGeom prst="roundRect">
            <a:avLst>
              <a:gd name="adj" fmla="val 12000"/>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Keep live evidence available: he"/>
          <p:cNvSpPr txBox="1"/>
          <p:nvPr/>
        </p:nvSpPr>
        <p:spPr>
          <a:xfrm>
            <a:off x="768096" y="5468112"/>
            <a:ext cx="10652760" cy="557784"/>
          </a:xfrm>
          <a:prstGeom prst="rect">
            <a:avLst/>
          </a:prstGeom>
          <a:noFill/>
        </p:spPr>
        <p:txBody>
          <a:bodyPr wrap="square" lIns="9144" rIns="9144" tIns="0" bIns="0" anchor="t">
            <a:spAutoFit/>
          </a:bodyPr>
          <a:lstStyle/>
          <a:p>
            <a:pPr>
              <a:lnSpc>
                <a:spcPct val="108000"/>
              </a:lnSpc>
            </a:pPr>
            <a:r>
              <a:rPr sz="2100">
                <a:solidFill>
                  <a:srgbClr val="304B53"/>
                </a:solidFill>
                <a:latin typeface="Liberation Sans"/>
              </a:rPr>
              <a:t>Saved demonstrations cover mode switching, retry and failed-job stop.</a:t>
            </a:r>
          </a:p>
          <a:p>
            <a:pPr>
              <a:lnSpc>
                <a:spcPct val="108000"/>
              </a:lnSpc>
            </a:pPr>
            <a:r>
              <a:rPr sz="2100">
                <a:solidFill>
                  <a:srgbClr val="304B53"/>
                </a:solidFill>
                <a:latin typeface="Liberation Sans"/>
              </a:rPr>
              <a:t>Keep the app or separate traces ready for other checks, including two observers.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Demonstration: switch modes, kee"/>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Demonstration: switch modes, keep the job</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Saved application evidence</a:t>
            </a:r>
          </a:p>
        </p:txBody>
      </p:sp>
      <p:sp>
        <p:nvSpPr>
          <p:cNvPr id="5" name="Text 13"/>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12</a:t>
            </a:r>
          </a:p>
        </p:txBody>
      </p:sp>
      <p:sp>
        <p:nvSpPr>
          <p:cNvPr id="6" name="Text Real browser capture: long → sho"/>
          <p:cNvSpPr txBox="1"/>
          <p:nvPr/>
        </p:nvSpPr>
        <p:spPr>
          <a:xfrm>
            <a:off x="548640" y="1051560"/>
            <a:ext cx="11064240" cy="411480"/>
          </a:xfrm>
          <a:prstGeom prst="rect">
            <a:avLst/>
          </a:prstGeom>
          <a:noFill/>
        </p:spPr>
        <p:txBody>
          <a:bodyPr wrap="square" lIns="9144" rIns="9144" tIns="0" bIns="0" anchor="t">
            <a:spAutoFit/>
          </a:bodyPr>
          <a:lstStyle/>
          <a:p>
            <a:pPr>
              <a:lnSpc>
                <a:spcPct val="108000"/>
              </a:lnSpc>
              <a:spcBef>
                <a:spcPts val="0"/>
              </a:spcBef>
              <a:spcAft>
                <a:spcPts val="0"/>
              </a:spcAft>
            </a:pPr>
            <a:r>
              <a:rPr sz="2400" b="0">
                <a:solidFill>
                  <a:srgbClr val="304B53"/>
                </a:solidFill>
                <a:latin typeface="Liberation Sans"/>
              </a:rPr>
              <a:t>Real browser capture: long → short → long, while processing continues.</a:t>
            </a:r>
          </a:p>
        </p:txBody>
      </p:sp>
      <p:pic>
        <p:nvPicPr>
          <p:cNvPr id="7" name="Picture 6" descr="01-mode-switch-presentation.gif"/>
          <p:cNvPicPr>
            <a:picLocks noChangeAspect="1"/>
          </p:cNvPicPr>
          <p:nvPr/>
        </p:nvPicPr>
        <p:blipFill>
          <a:blip r:embed="rId2"/>
          <a:stretch>
            <a:fillRect/>
          </a:stretch>
        </p:blipFill>
        <p:spPr>
          <a:xfrm>
            <a:off x="1072210" y="1746504"/>
            <a:ext cx="3844899" cy="4498848"/>
          </a:xfrm>
          <a:prstGeom prst="rect">
            <a:avLst/>
          </a:prstGeom>
        </p:spPr>
      </p:pic>
      <p:sp>
        <p:nvSpPr>
          <p:cNvPr id="8" name="Text Same job throughout"/>
          <p:cNvSpPr txBox="1"/>
          <p:nvPr/>
        </p:nvSpPr>
        <p:spPr>
          <a:xfrm>
            <a:off x="5806440" y="1828800"/>
            <a:ext cx="5577840" cy="429768"/>
          </a:xfrm>
          <a:prstGeom prst="rect">
            <a:avLst/>
          </a:prstGeom>
          <a:noFill/>
        </p:spPr>
        <p:txBody>
          <a:bodyPr wrap="square" lIns="9144" rIns="9144" tIns="0" bIns="0" anchor="t">
            <a:spAutoFit/>
          </a:bodyPr>
          <a:lstStyle/>
          <a:p>
            <a:pPr>
              <a:lnSpc>
                <a:spcPct val="108000"/>
              </a:lnSpc>
              <a:spcBef>
                <a:spcPts val="0"/>
              </a:spcBef>
              <a:spcAft>
                <a:spcPts val="0"/>
              </a:spcAft>
            </a:pPr>
            <a:r>
              <a:rPr sz="2700" b="1">
                <a:solidFill>
                  <a:srgbClr val="008C91"/>
                </a:solidFill>
                <a:latin typeface="Liberation Sans"/>
              </a:rPr>
              <a:t>Same job throughout</a:t>
            </a:r>
          </a:p>
        </p:txBody>
      </p:sp>
      <p:sp>
        <p:nvSpPr>
          <p:cNvPr id="9" name="Text Job 0f987258…&#10;Same ID across bot"/>
          <p:cNvSpPr txBox="1"/>
          <p:nvPr/>
        </p:nvSpPr>
        <p:spPr>
          <a:xfrm>
            <a:off x="5806440" y="2386584"/>
            <a:ext cx="5577840" cy="777240"/>
          </a:xfrm>
          <a:prstGeom prst="rect">
            <a:avLst/>
          </a:prstGeom>
          <a:noFill/>
        </p:spPr>
        <p:txBody>
          <a:bodyPr wrap="square" lIns="9144" rIns="9144" tIns="0" bIns="0" anchor="t">
            <a:spAutoFit/>
          </a:bodyPr>
          <a:lstStyle/>
          <a:p>
            <a:pPr>
              <a:lnSpc>
                <a:spcPct val="108000"/>
              </a:lnSpc>
              <a:spcBef>
                <a:spcPts val="0"/>
              </a:spcBef>
              <a:spcAft>
                <a:spcPts val="0"/>
              </a:spcAft>
            </a:pPr>
            <a:r>
              <a:rPr sz="2400" b="0">
                <a:solidFill>
                  <a:srgbClr val="304B53"/>
                </a:solidFill>
                <a:latin typeface="Liberation Sans"/>
              </a:rPr>
              <a:t>Job 0f987258…</a:t>
            </a:r>
          </a:p>
          <a:p>
            <a:pPr>
              <a:lnSpc>
                <a:spcPct val="108000"/>
              </a:lnSpc>
              <a:spcBef>
                <a:spcPts val="0"/>
              </a:spcBef>
              <a:spcAft>
                <a:spcPts val="0"/>
              </a:spcAft>
            </a:pPr>
            <a:r>
              <a:rPr sz="2400" b="0">
                <a:solidFill>
                  <a:srgbClr val="304B53"/>
                </a:solidFill>
                <a:latin typeface="Liberation Sans"/>
              </a:rPr>
              <a:t>Same ID across both switches.</a:t>
            </a:r>
          </a:p>
        </p:txBody>
      </p:sp>
      <p:sp>
        <p:nvSpPr>
          <p:cNvPr id="10" name="Text One upload, three real variants"/>
          <p:cNvSpPr txBox="1"/>
          <p:nvPr/>
        </p:nvSpPr>
        <p:spPr>
          <a:xfrm>
            <a:off x="5806440" y="3291840"/>
            <a:ext cx="5577840" cy="429768"/>
          </a:xfrm>
          <a:prstGeom prst="rect">
            <a:avLst/>
          </a:prstGeom>
          <a:noFill/>
        </p:spPr>
        <p:txBody>
          <a:bodyPr wrap="square" lIns="9144" rIns="9144" tIns="0" bIns="0" anchor="t">
            <a:spAutoFit/>
          </a:bodyPr>
          <a:lstStyle/>
          <a:p>
            <a:pPr>
              <a:lnSpc>
                <a:spcPct val="108000"/>
              </a:lnSpc>
              <a:spcBef>
                <a:spcPts val="0"/>
              </a:spcBef>
              <a:spcAft>
                <a:spcPts val="0"/>
              </a:spcAft>
            </a:pPr>
            <a:r>
              <a:rPr sz="2700" b="1">
                <a:solidFill>
                  <a:srgbClr val="008C91"/>
                </a:solidFill>
                <a:latin typeface="Liberation Sans"/>
              </a:rPr>
              <a:t>One upload, three real variants</a:t>
            </a:r>
          </a:p>
        </p:txBody>
      </p:sp>
      <p:sp>
        <p:nvSpPr>
          <p:cNvPr id="11" name="Text Network log: 1 POST.&#10;Same job co"/>
          <p:cNvSpPr txBox="1"/>
          <p:nvPr/>
        </p:nvSpPr>
        <p:spPr>
          <a:xfrm>
            <a:off x="5806440" y="3849624"/>
            <a:ext cx="5577840" cy="777240"/>
          </a:xfrm>
          <a:prstGeom prst="rect">
            <a:avLst/>
          </a:prstGeom>
          <a:noFill/>
        </p:spPr>
        <p:txBody>
          <a:bodyPr wrap="square" lIns="9144" rIns="9144" tIns="0" bIns="0" anchor="t">
            <a:spAutoFit/>
          </a:bodyPr>
          <a:lstStyle/>
          <a:p>
            <a:pPr>
              <a:lnSpc>
                <a:spcPct val="108000"/>
              </a:lnSpc>
              <a:spcBef>
                <a:spcPts val="0"/>
              </a:spcBef>
              <a:spcAft>
                <a:spcPts val="0"/>
              </a:spcAft>
            </a:pPr>
            <a:r>
              <a:rPr sz="2400" b="0">
                <a:solidFill>
                  <a:srgbClr val="304B53"/>
                </a:solidFill>
                <a:latin typeface="Liberation Sans"/>
              </a:rPr>
              <a:t>Network log: 1 POST.</a:t>
            </a:r>
          </a:p>
          <a:p>
            <a:pPr>
              <a:lnSpc>
                <a:spcPct val="108000"/>
              </a:lnSpc>
              <a:spcBef>
                <a:spcPts val="0"/>
              </a:spcBef>
              <a:spcAft>
                <a:spcPts val="0"/>
              </a:spcAft>
            </a:pPr>
            <a:r>
              <a:rPr sz="2400" b="0">
                <a:solidFill>
                  <a:srgbClr val="304B53"/>
                </a:solidFill>
                <a:latin typeface="Liberation Sans"/>
              </a:rPr>
              <a:t>Same job completes with 3 variants.</a:t>
            </a:r>
          </a:p>
        </p:txBody>
      </p:sp>
      <p:sp>
        <p:nvSpPr>
          <p:cNvPr id="12" name="Text Old observation cancelled"/>
          <p:cNvSpPr txBox="1"/>
          <p:nvPr/>
        </p:nvSpPr>
        <p:spPr>
          <a:xfrm>
            <a:off x="5806440" y="4754880"/>
            <a:ext cx="5577840" cy="429768"/>
          </a:xfrm>
          <a:prstGeom prst="rect">
            <a:avLst/>
          </a:prstGeom>
          <a:noFill/>
        </p:spPr>
        <p:txBody>
          <a:bodyPr wrap="square" lIns="9144" rIns="9144" tIns="0" bIns="0" anchor="t">
            <a:spAutoFit/>
          </a:bodyPr>
          <a:lstStyle/>
          <a:p>
            <a:pPr>
              <a:lnSpc>
                <a:spcPct val="108000"/>
              </a:lnSpc>
              <a:spcBef>
                <a:spcPts val="0"/>
              </a:spcBef>
              <a:spcAft>
                <a:spcPts val="0"/>
              </a:spcAft>
            </a:pPr>
            <a:r>
              <a:rPr sz="2700" b="1">
                <a:solidFill>
                  <a:srgbClr val="008C91"/>
                </a:solidFill>
                <a:latin typeface="Liberation Sans"/>
              </a:rPr>
              <a:t>Old observation cancelled</a:t>
            </a:r>
          </a:p>
        </p:txBody>
      </p:sp>
      <p:sp>
        <p:nvSpPr>
          <p:cNvPr id="13" name="Text Cancelled request recorded.&#10;No l"/>
          <p:cNvSpPr txBox="1"/>
          <p:nvPr/>
        </p:nvSpPr>
        <p:spPr>
          <a:xfrm>
            <a:off x="5806440" y="5312664"/>
            <a:ext cx="5577840" cy="777240"/>
          </a:xfrm>
          <a:prstGeom prst="rect">
            <a:avLst/>
          </a:prstGeom>
          <a:noFill/>
        </p:spPr>
        <p:txBody>
          <a:bodyPr wrap="square" lIns="9144" rIns="9144" tIns="0" bIns="0" anchor="t">
            <a:spAutoFit/>
          </a:bodyPr>
          <a:lstStyle/>
          <a:p>
            <a:pPr>
              <a:lnSpc>
                <a:spcPct val="108000"/>
              </a:lnSpc>
              <a:spcBef>
                <a:spcPts val="0"/>
              </a:spcBef>
              <a:spcAft>
                <a:spcPts val="0"/>
              </a:spcAft>
            </a:pPr>
            <a:r>
              <a:rPr sz="2400" b="0">
                <a:solidFill>
                  <a:srgbClr val="304B53"/>
                </a:solidFill>
                <a:latin typeface="Liberation Sans"/>
              </a:rPr>
              <a:t>Cancelled request recorded.</a:t>
            </a:r>
          </a:p>
          <a:p>
            <a:pPr>
              <a:lnSpc>
                <a:spcPct val="108000"/>
              </a:lnSpc>
              <a:spcBef>
                <a:spcPts val="0"/>
              </a:spcBef>
              <a:spcAft>
                <a:spcPts val="0"/>
              </a:spcAft>
            </a:pPr>
            <a:r>
              <a:rPr sz="2400" b="0">
                <a:solidFill>
                  <a:srgbClr val="304B53"/>
                </a:solidFill>
                <a:latin typeface="Liberation Sans"/>
              </a:rPr>
              <a:t>No later GETs in the stop check.</a:t>
            </a:r>
          </a:p>
        </p:txBody>
      </p:sp>
      <p:sp>
        <p:nvSpPr>
          <p:cNvPr id="14" name="Text Animated screenshots: play in Sl"/>
          <p:cNvSpPr txBox="1"/>
          <p:nvPr/>
        </p:nvSpPr>
        <p:spPr>
          <a:xfrm>
            <a:off x="566928" y="6318504"/>
            <a:ext cx="10972800" cy="201168"/>
          </a:xfrm>
          <a:prstGeom prst="rect">
            <a:avLst/>
          </a:prstGeom>
          <a:noFill/>
        </p:spPr>
        <p:txBody>
          <a:bodyPr wrap="square" lIns="9144" rIns="9144" tIns="0" bIns="0" anchor="t">
            <a:spAutoFit/>
          </a:bodyPr>
          <a:lstStyle/>
          <a:p>
            <a:pPr>
              <a:lnSpc>
                <a:spcPct val="108000"/>
              </a:lnSpc>
              <a:spcBef>
                <a:spcPts val="0"/>
              </a:spcBef>
              <a:spcAft>
                <a:spcPts val="0"/>
              </a:spcAft>
            </a:pPr>
            <a:r>
              <a:rPr sz="1300" b="0">
                <a:solidFill>
                  <a:srgbClr val="62757A"/>
                </a:solidFill>
                <a:latin typeface="Liberation Sans"/>
              </a:rPr>
              <a:t>Animated screenshots: play in Slide Show. Starts after upload; raw frames, timestamps and logs are saved.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Demonstration: error, Try again,"/>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Demonstration: error, Try again, same job</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Saved application evidence</a:t>
            </a:r>
          </a:p>
        </p:txBody>
      </p:sp>
      <p:sp>
        <p:nvSpPr>
          <p:cNvPr id="5" name="Text 14"/>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13</a:t>
            </a:r>
          </a:p>
        </p:txBody>
      </p:sp>
      <p:sp>
        <p:nvSpPr>
          <p:cNvPr id="6" name="Text A real failed status fetch pause"/>
          <p:cNvSpPr txBox="1"/>
          <p:nvPr/>
        </p:nvSpPr>
        <p:spPr>
          <a:xfrm>
            <a:off x="548640" y="1051560"/>
            <a:ext cx="11064240" cy="411480"/>
          </a:xfrm>
          <a:prstGeom prst="rect">
            <a:avLst/>
          </a:prstGeom>
          <a:noFill/>
        </p:spPr>
        <p:txBody>
          <a:bodyPr wrap="square" lIns="9144" rIns="9144" tIns="0" bIns="0" anchor="t">
            <a:spAutoFit/>
          </a:bodyPr>
          <a:lstStyle/>
          <a:p>
            <a:pPr>
              <a:lnSpc>
                <a:spcPct val="108000"/>
              </a:lnSpc>
              <a:spcBef>
                <a:spcPts val="0"/>
              </a:spcBef>
              <a:spcAft>
                <a:spcPts val="0"/>
              </a:spcAft>
            </a:pPr>
            <a:r>
              <a:rPr sz="2400" b="0">
                <a:solidFill>
                  <a:srgbClr val="304B53"/>
                </a:solidFill>
                <a:latin typeface="Liberation Sans"/>
              </a:rPr>
              <a:t>A real failed status fetch pauses observation; Try again resumes it.</a:t>
            </a:r>
          </a:p>
        </p:txBody>
      </p:sp>
      <p:pic>
        <p:nvPicPr>
          <p:cNvPr id="7" name="Picture 6" descr="02-error-and-retry-presentation.gif"/>
          <p:cNvPicPr>
            <a:picLocks noChangeAspect="1"/>
          </p:cNvPicPr>
          <p:nvPr/>
        </p:nvPicPr>
        <p:blipFill>
          <a:blip r:embed="rId2"/>
          <a:stretch>
            <a:fillRect/>
          </a:stretch>
        </p:blipFill>
        <p:spPr>
          <a:xfrm>
            <a:off x="1448577" y="1746504"/>
            <a:ext cx="3092165" cy="4498848"/>
          </a:xfrm>
          <a:prstGeom prst="rect">
            <a:avLst/>
          </a:prstGeom>
        </p:spPr>
      </p:pic>
      <p:sp>
        <p:nvSpPr>
          <p:cNvPr id="8" name="Text Last known state preserved"/>
          <p:cNvSpPr txBox="1"/>
          <p:nvPr/>
        </p:nvSpPr>
        <p:spPr>
          <a:xfrm>
            <a:off x="5806440" y="1828800"/>
            <a:ext cx="5577840" cy="429768"/>
          </a:xfrm>
          <a:prstGeom prst="rect">
            <a:avLst/>
          </a:prstGeom>
          <a:noFill/>
        </p:spPr>
        <p:txBody>
          <a:bodyPr wrap="square" lIns="9144" rIns="9144" tIns="0" bIns="0" anchor="t">
            <a:spAutoFit/>
          </a:bodyPr>
          <a:lstStyle/>
          <a:p>
            <a:pPr>
              <a:lnSpc>
                <a:spcPct val="108000"/>
              </a:lnSpc>
              <a:spcBef>
                <a:spcPts val="0"/>
              </a:spcBef>
              <a:spcAft>
                <a:spcPts val="0"/>
              </a:spcAft>
            </a:pPr>
            <a:r>
              <a:rPr sz="2700" b="1">
                <a:solidFill>
                  <a:srgbClr val="008C91"/>
                </a:solidFill>
                <a:latin typeface="Liberation Sans"/>
              </a:rPr>
              <a:t>Last known state preserved</a:t>
            </a:r>
          </a:p>
        </p:txBody>
      </p:sp>
      <p:sp>
        <p:nvSpPr>
          <p:cNvPr id="9" name="Text Error panel appears.&#10;Job stays p"/>
          <p:cNvSpPr txBox="1"/>
          <p:nvPr/>
        </p:nvSpPr>
        <p:spPr>
          <a:xfrm>
            <a:off x="5806440" y="2386584"/>
            <a:ext cx="5577840" cy="777240"/>
          </a:xfrm>
          <a:prstGeom prst="rect">
            <a:avLst/>
          </a:prstGeom>
          <a:noFill/>
        </p:spPr>
        <p:txBody>
          <a:bodyPr wrap="square" lIns="9144" rIns="9144" tIns="0" bIns="0" anchor="t">
            <a:spAutoFit/>
          </a:bodyPr>
          <a:lstStyle/>
          <a:p>
            <a:pPr>
              <a:lnSpc>
                <a:spcPct val="108000"/>
              </a:lnSpc>
              <a:spcBef>
                <a:spcPts val="0"/>
              </a:spcBef>
              <a:spcAft>
                <a:spcPts val="0"/>
              </a:spcAft>
            </a:pPr>
            <a:r>
              <a:rPr sz="2400" b="0">
                <a:solidFill>
                  <a:srgbClr val="304B53"/>
                </a:solidFill>
                <a:latin typeface="Liberation Sans"/>
              </a:rPr>
              <a:t>Error panel appears.</a:t>
            </a:r>
          </a:p>
          <a:p>
            <a:pPr>
              <a:lnSpc>
                <a:spcPct val="108000"/>
              </a:lnSpc>
              <a:spcBef>
                <a:spcPts val="0"/>
              </a:spcBef>
              <a:spcAft>
                <a:spcPts val="0"/>
              </a:spcAft>
            </a:pPr>
            <a:r>
              <a:rPr sz="2400" b="0">
                <a:solidFill>
                  <a:srgbClr val="304B53"/>
                </a:solidFill>
                <a:latin typeface="Liberation Sans"/>
              </a:rPr>
              <a:t>Job stays processing at version 2.</a:t>
            </a:r>
          </a:p>
        </p:txBody>
      </p:sp>
      <p:sp>
        <p:nvSpPr>
          <p:cNvPr id="10" name="Text Try again: no new upload"/>
          <p:cNvSpPr txBox="1"/>
          <p:nvPr/>
        </p:nvSpPr>
        <p:spPr>
          <a:xfrm>
            <a:off x="5806440" y="3291840"/>
            <a:ext cx="5577840" cy="429768"/>
          </a:xfrm>
          <a:prstGeom prst="rect">
            <a:avLst/>
          </a:prstGeom>
          <a:noFill/>
        </p:spPr>
        <p:txBody>
          <a:bodyPr wrap="square" lIns="9144" rIns="9144" tIns="0" bIns="0" anchor="t">
            <a:spAutoFit/>
          </a:bodyPr>
          <a:lstStyle/>
          <a:p>
            <a:pPr>
              <a:lnSpc>
                <a:spcPct val="108000"/>
              </a:lnSpc>
              <a:spcBef>
                <a:spcPts val="0"/>
              </a:spcBef>
              <a:spcAft>
                <a:spcPts val="0"/>
              </a:spcAft>
            </a:pPr>
            <a:r>
              <a:rPr sz="2700" b="1">
                <a:solidFill>
                  <a:srgbClr val="008C91"/>
                </a:solidFill>
                <a:latin typeface="Liberation Sans"/>
              </a:rPr>
              <a:t>Try again: no new upload</a:t>
            </a:r>
          </a:p>
        </p:txBody>
      </p:sp>
      <p:sp>
        <p:nvSpPr>
          <p:cNvPr id="11" name="Text Same job e8c3ad18…&#10;Network log: "/>
          <p:cNvSpPr txBox="1"/>
          <p:nvPr/>
        </p:nvSpPr>
        <p:spPr>
          <a:xfrm>
            <a:off x="5806440" y="3849624"/>
            <a:ext cx="5577840" cy="777240"/>
          </a:xfrm>
          <a:prstGeom prst="rect">
            <a:avLst/>
          </a:prstGeom>
          <a:noFill/>
        </p:spPr>
        <p:txBody>
          <a:bodyPr wrap="square" lIns="9144" rIns="9144" tIns="0" bIns="0" anchor="t">
            <a:spAutoFit/>
          </a:bodyPr>
          <a:lstStyle/>
          <a:p>
            <a:pPr>
              <a:lnSpc>
                <a:spcPct val="108000"/>
              </a:lnSpc>
              <a:spcBef>
                <a:spcPts val="0"/>
              </a:spcBef>
              <a:spcAft>
                <a:spcPts val="0"/>
              </a:spcAft>
            </a:pPr>
            <a:r>
              <a:rPr sz="2400" b="0">
                <a:solidFill>
                  <a:srgbClr val="304B53"/>
                </a:solidFill>
                <a:latin typeface="Liberation Sans"/>
              </a:rPr>
              <a:t>Same job e8c3ad18…</a:t>
            </a:r>
          </a:p>
          <a:p>
            <a:pPr>
              <a:lnSpc>
                <a:spcPct val="108000"/>
              </a:lnSpc>
              <a:spcBef>
                <a:spcPts val="0"/>
              </a:spcBef>
              <a:spcAft>
                <a:spcPts val="0"/>
              </a:spcAft>
            </a:pPr>
            <a:r>
              <a:rPr sz="2400" b="0">
                <a:solidFill>
                  <a:srgbClr val="304B53"/>
                </a:solidFill>
                <a:latin typeface="Liberation Sans"/>
              </a:rPr>
              <a:t>Network log: exactly 1 POST.</a:t>
            </a:r>
          </a:p>
        </p:txBody>
      </p:sp>
      <p:sp>
        <p:nvSpPr>
          <p:cNvPr id="12" name="Text Same job completes"/>
          <p:cNvSpPr txBox="1"/>
          <p:nvPr/>
        </p:nvSpPr>
        <p:spPr>
          <a:xfrm>
            <a:off x="5806440" y="4754880"/>
            <a:ext cx="5577840" cy="429768"/>
          </a:xfrm>
          <a:prstGeom prst="rect">
            <a:avLst/>
          </a:prstGeom>
          <a:noFill/>
        </p:spPr>
        <p:txBody>
          <a:bodyPr wrap="square" lIns="9144" rIns="9144" tIns="0" bIns="0" anchor="t">
            <a:spAutoFit/>
          </a:bodyPr>
          <a:lstStyle/>
          <a:p>
            <a:pPr>
              <a:lnSpc>
                <a:spcPct val="108000"/>
              </a:lnSpc>
              <a:spcBef>
                <a:spcPts val="0"/>
              </a:spcBef>
              <a:spcAft>
                <a:spcPts val="0"/>
              </a:spcAft>
            </a:pPr>
            <a:r>
              <a:rPr sz="2700" b="1">
                <a:solidFill>
                  <a:srgbClr val="008C91"/>
                </a:solidFill>
                <a:latin typeface="Liberation Sans"/>
              </a:rPr>
              <a:t>Same job completes</a:t>
            </a:r>
          </a:p>
        </p:txBody>
      </p:sp>
      <p:sp>
        <p:nvSpPr>
          <p:cNvPr id="13" name="Text Error clears; observation resume"/>
          <p:cNvSpPr txBox="1"/>
          <p:nvPr/>
        </p:nvSpPr>
        <p:spPr>
          <a:xfrm>
            <a:off x="5806440" y="5312664"/>
            <a:ext cx="5577840" cy="777240"/>
          </a:xfrm>
          <a:prstGeom prst="rect">
            <a:avLst/>
          </a:prstGeom>
          <a:noFill/>
        </p:spPr>
        <p:txBody>
          <a:bodyPr wrap="square" lIns="9144" rIns="9144" tIns="0" bIns="0" anchor="t">
            <a:spAutoFit/>
          </a:bodyPr>
          <a:lstStyle/>
          <a:p>
            <a:pPr>
              <a:lnSpc>
                <a:spcPct val="108000"/>
              </a:lnSpc>
              <a:spcBef>
                <a:spcPts val="0"/>
              </a:spcBef>
              <a:spcAft>
                <a:spcPts val="0"/>
              </a:spcAft>
            </a:pPr>
            <a:r>
              <a:rPr sz="2400" b="0">
                <a:solidFill>
                  <a:srgbClr val="304B53"/>
                </a:solidFill>
                <a:latin typeface="Liberation Sans"/>
              </a:rPr>
              <a:t>Error clears; observation resumes.</a:t>
            </a:r>
          </a:p>
          <a:p>
            <a:pPr>
              <a:lnSpc>
                <a:spcPct val="108000"/>
              </a:lnSpc>
              <a:spcBef>
                <a:spcPts val="0"/>
              </a:spcBef>
              <a:spcAft>
                <a:spcPts val="0"/>
              </a:spcAft>
            </a:pPr>
            <a:r>
              <a:rPr sz="2400" b="0">
                <a:solidFill>
                  <a:srgbClr val="304B53"/>
                </a:solidFill>
                <a:latin typeface="Liberation Sans"/>
              </a:rPr>
              <a:t>Retry checked in short polling.</a:t>
            </a:r>
          </a:p>
        </p:txBody>
      </p:sp>
      <p:sp>
        <p:nvSpPr>
          <p:cNvPr id="14" name="Text Controlled fault: local forwarde"/>
          <p:cNvSpPr txBox="1"/>
          <p:nvPr/>
        </p:nvSpPr>
        <p:spPr>
          <a:xfrm>
            <a:off x="566928" y="6318504"/>
            <a:ext cx="10972800" cy="201168"/>
          </a:xfrm>
          <a:prstGeom prst="rect">
            <a:avLst/>
          </a:prstGeom>
          <a:noFill/>
        </p:spPr>
        <p:txBody>
          <a:bodyPr wrap="square" lIns="9144" rIns="9144" tIns="0" bIns="0" anchor="t">
            <a:spAutoFit/>
          </a:bodyPr>
          <a:lstStyle/>
          <a:p>
            <a:pPr>
              <a:lnSpc>
                <a:spcPct val="108000"/>
              </a:lnSpc>
              <a:spcBef>
                <a:spcPts val="0"/>
              </a:spcBef>
              <a:spcAft>
                <a:spcPts val="0"/>
              </a:spcAft>
            </a:pPr>
            <a:r>
              <a:rPr sz="1300" b="0">
                <a:solidFill>
                  <a:srgbClr val="62757A"/>
                </a:solidFill>
                <a:latin typeface="Liberation Sans"/>
              </a:rPr>
              <a:t>Controlled fault: local forwarder closes a status connection. Successful responses come from the real application.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Demonstration: failed jobs stop "/>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Demonstration: failed jobs stop polling</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Saved application evidence</a:t>
            </a:r>
          </a:p>
        </p:txBody>
      </p:sp>
      <p:sp>
        <p:nvSpPr>
          <p:cNvPr id="5" name="Text 15"/>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14</a:t>
            </a:r>
          </a:p>
        </p:txBody>
      </p:sp>
      <p:sp>
        <p:nvSpPr>
          <p:cNvPr id="6" name="Text The real worker records failed; "/>
          <p:cNvSpPr txBox="1"/>
          <p:nvPr/>
        </p:nvSpPr>
        <p:spPr>
          <a:xfrm>
            <a:off x="548640" y="1051560"/>
            <a:ext cx="11064240" cy="411480"/>
          </a:xfrm>
          <a:prstGeom prst="rect">
            <a:avLst/>
          </a:prstGeom>
          <a:noFill/>
        </p:spPr>
        <p:txBody>
          <a:bodyPr wrap="square" lIns="9144" rIns="9144" tIns="0" bIns="0" anchor="t">
            <a:spAutoFit/>
          </a:bodyPr>
          <a:lstStyle/>
          <a:p>
            <a:pPr>
              <a:lnSpc>
                <a:spcPct val="108000"/>
              </a:lnSpc>
              <a:spcBef>
                <a:spcPts val="0"/>
              </a:spcBef>
              <a:spcAft>
                <a:spcPts val="0"/>
              </a:spcAft>
            </a:pPr>
            <a:r>
              <a:rPr sz="2400" b="0">
                <a:solidFill>
                  <a:srgbClr val="304B53"/>
                </a:solidFill>
                <a:latin typeface="Liberation Sans"/>
              </a:rPr>
              <a:t>The real worker records failed; the browser shows the error and stops.</a:t>
            </a:r>
          </a:p>
        </p:txBody>
      </p:sp>
      <p:sp>
        <p:nvSpPr>
          <p:cNvPr id="7" name="Text Long polling"/>
          <p:cNvSpPr txBox="1"/>
          <p:nvPr/>
        </p:nvSpPr>
        <p:spPr>
          <a:xfrm>
            <a:off x="896112" y="1673352"/>
            <a:ext cx="3566160" cy="384048"/>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008C91"/>
                </a:solidFill>
                <a:latin typeface="Liberation Sans"/>
              </a:rPr>
              <a:t>Long polling</a:t>
            </a:r>
          </a:p>
        </p:txBody>
      </p:sp>
      <p:sp>
        <p:nvSpPr>
          <p:cNvPr id="8" name="Text Short polling"/>
          <p:cNvSpPr txBox="1"/>
          <p:nvPr/>
        </p:nvSpPr>
        <p:spPr>
          <a:xfrm>
            <a:off x="4736592" y="1673352"/>
            <a:ext cx="3566160" cy="384048"/>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CF167E"/>
                </a:solidFill>
                <a:latin typeface="Liberation Sans"/>
              </a:rPr>
              <a:t>Short polling</a:t>
            </a:r>
          </a:p>
        </p:txBody>
      </p:sp>
      <p:pic>
        <p:nvPicPr>
          <p:cNvPr id="9" name="Picture 8" descr="03-failure-long-presentation.gif"/>
          <p:cNvPicPr>
            <a:picLocks noChangeAspect="1"/>
          </p:cNvPicPr>
          <p:nvPr/>
        </p:nvPicPr>
        <p:blipFill>
          <a:blip r:embed="rId2"/>
          <a:stretch>
            <a:fillRect/>
          </a:stretch>
        </p:blipFill>
        <p:spPr>
          <a:xfrm>
            <a:off x="913041" y="2221992"/>
            <a:ext cx="3203116" cy="3977639"/>
          </a:xfrm>
          <a:prstGeom prst="rect">
            <a:avLst/>
          </a:prstGeom>
        </p:spPr>
      </p:pic>
      <p:pic>
        <p:nvPicPr>
          <p:cNvPr id="10" name="Picture 9" descr="04-failure-short-presentation.gif"/>
          <p:cNvPicPr>
            <a:picLocks noChangeAspect="1"/>
          </p:cNvPicPr>
          <p:nvPr/>
        </p:nvPicPr>
        <p:blipFill>
          <a:blip r:embed="rId3"/>
          <a:stretch>
            <a:fillRect/>
          </a:stretch>
        </p:blipFill>
        <p:spPr>
          <a:xfrm>
            <a:off x="4753521" y="2221992"/>
            <a:ext cx="3203116" cy="3977639"/>
          </a:xfrm>
          <a:prstGeom prst="rect">
            <a:avLst/>
          </a:prstGeom>
        </p:spPr>
      </p:pic>
      <p:sp>
        <p:nvSpPr>
          <p:cNvPr id="11" name="Text Safe error shown"/>
          <p:cNvSpPr txBox="1"/>
          <p:nvPr/>
        </p:nvSpPr>
        <p:spPr>
          <a:xfrm>
            <a:off x="8476488" y="2267712"/>
            <a:ext cx="3163824" cy="768096"/>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008C91"/>
                </a:solidFill>
                <a:latin typeface="Liberation Sans"/>
              </a:rPr>
              <a:t>Safe error shown</a:t>
            </a:r>
          </a:p>
        </p:txBody>
      </p:sp>
      <p:sp>
        <p:nvSpPr>
          <p:cNvPr id="12" name="Text No completed&#10;variant results"/>
          <p:cNvSpPr txBox="1"/>
          <p:nvPr/>
        </p:nvSpPr>
        <p:spPr>
          <a:xfrm>
            <a:off x="8476488" y="3273552"/>
            <a:ext cx="3163824" cy="941832"/>
          </a:xfrm>
          <a:prstGeom prst="rect">
            <a:avLst/>
          </a:prstGeom>
          <a:noFill/>
        </p:spPr>
        <p:txBody>
          <a:bodyPr wrap="square" lIns="9144" rIns="9144" tIns="0" bIns="0" anchor="t">
            <a:spAutoFit/>
          </a:bodyPr>
          <a:lstStyle/>
          <a:p>
            <a:pPr>
              <a:lnSpc>
                <a:spcPct val="108000"/>
              </a:lnSpc>
              <a:spcBef>
                <a:spcPts val="0"/>
              </a:spcBef>
              <a:spcAft>
                <a:spcPts val="0"/>
              </a:spcAft>
            </a:pPr>
            <a:r>
              <a:rPr sz="2400" b="0">
                <a:solidFill>
                  <a:srgbClr val="304B53"/>
                </a:solidFill>
                <a:latin typeface="Liberation Sans"/>
              </a:rPr>
              <a:t>No completed</a:t>
            </a:r>
          </a:p>
          <a:p>
            <a:pPr>
              <a:lnSpc>
                <a:spcPct val="108000"/>
              </a:lnSpc>
              <a:spcBef>
                <a:spcPts val="0"/>
              </a:spcBef>
              <a:spcAft>
                <a:spcPts val="0"/>
              </a:spcAft>
            </a:pPr>
            <a:r>
              <a:rPr sz="2400" b="0">
                <a:solidFill>
                  <a:srgbClr val="304B53"/>
                </a:solidFill>
                <a:latin typeface="Liberation Sans"/>
              </a:rPr>
              <a:t>variant results</a:t>
            </a:r>
          </a:p>
        </p:txBody>
      </p:sp>
      <p:sp>
        <p:nvSpPr>
          <p:cNvPr id="13" name="Text No further GETs&#10;for over 6 secon"/>
          <p:cNvSpPr txBox="1"/>
          <p:nvPr/>
        </p:nvSpPr>
        <p:spPr>
          <a:xfrm>
            <a:off x="8476488" y="4471416"/>
            <a:ext cx="3163824" cy="1042415"/>
          </a:xfrm>
          <a:prstGeom prst="rect">
            <a:avLst/>
          </a:prstGeom>
          <a:noFill/>
        </p:spPr>
        <p:txBody>
          <a:bodyPr wrap="square" lIns="9144" rIns="9144" tIns="0" bIns="0" anchor="t">
            <a:spAutoFit/>
          </a:bodyPr>
          <a:lstStyle/>
          <a:p>
            <a:pPr>
              <a:lnSpc>
                <a:spcPct val="108000"/>
              </a:lnSpc>
              <a:spcBef>
                <a:spcPts val="0"/>
              </a:spcBef>
              <a:spcAft>
                <a:spcPts val="0"/>
              </a:spcAft>
            </a:pPr>
            <a:r>
              <a:rPr sz="2400" b="1">
                <a:solidFill>
                  <a:srgbClr val="17363D"/>
                </a:solidFill>
                <a:latin typeface="Liberation Sans"/>
              </a:rPr>
              <a:t>No further GETs</a:t>
            </a:r>
          </a:p>
          <a:p>
            <a:pPr>
              <a:lnSpc>
                <a:spcPct val="108000"/>
              </a:lnSpc>
              <a:spcBef>
                <a:spcPts val="0"/>
              </a:spcBef>
              <a:spcAft>
                <a:spcPts val="0"/>
              </a:spcAft>
            </a:pPr>
            <a:r>
              <a:rPr sz="2400" b="1">
                <a:solidFill>
                  <a:srgbClr val="17363D"/>
                </a:solidFill>
                <a:latin typeface="Liberation Sans"/>
              </a:rPr>
              <a:t>for over 6 seconds</a:t>
            </a:r>
          </a:p>
          <a:p>
            <a:pPr>
              <a:lnSpc>
                <a:spcPct val="108000"/>
              </a:lnSpc>
              <a:spcBef>
                <a:spcPts val="0"/>
              </a:spcBef>
              <a:spcAft>
                <a:spcPts val="0"/>
              </a:spcAft>
            </a:pPr>
            <a:r>
              <a:rPr sz="2400" b="1">
                <a:solidFill>
                  <a:srgbClr val="17363D"/>
                </a:solidFill>
                <a:latin typeface="Liberation Sans"/>
              </a:rPr>
              <a:t>in either mode</a:t>
            </a:r>
          </a:p>
        </p:txBody>
      </p:sp>
      <p:sp>
        <p:nvSpPr>
          <p:cNvPr id="14" name="Text Fault setup: temporarily move on"/>
          <p:cNvSpPr txBox="1"/>
          <p:nvPr/>
        </p:nvSpPr>
        <p:spPr>
          <a:xfrm>
            <a:off x="566928" y="6318504"/>
            <a:ext cx="10972800" cy="201168"/>
          </a:xfrm>
          <a:prstGeom prst="rect">
            <a:avLst/>
          </a:prstGeom>
          <a:noFill/>
        </p:spPr>
        <p:txBody>
          <a:bodyPr wrap="square" lIns="9144" rIns="9144" tIns="0" bIns="0" anchor="t">
            <a:spAutoFit/>
          </a:bodyPr>
          <a:lstStyle/>
          <a:p>
            <a:pPr>
              <a:lnSpc>
                <a:spcPct val="108000"/>
              </a:lnSpc>
              <a:spcBef>
                <a:spcPts val="0"/>
              </a:spcBef>
              <a:spcAft>
                <a:spcPts val="0"/>
              </a:spcAft>
            </a:pPr>
            <a:r>
              <a:rPr sz="1300" b="0">
                <a:solidFill>
                  <a:srgbClr val="62757A"/>
                </a:solidFill>
                <a:latin typeface="Liberation Sans"/>
              </a:rPr>
              <a:t>Fault setup: temporarily move only each new demo upload copy; restore it after the worker records failure.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ImageLab Assessment 2: Short and Long Polling Comparison</dc:title>
  <dc:subject>Actual application code and 30-run comparison</dc:subject>
  <dc:creator>Daryn Forman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